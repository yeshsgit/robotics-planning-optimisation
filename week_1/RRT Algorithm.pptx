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9"/>
  </p:notesMasterIdLst>
  <p:handoutMasterIdLst>
    <p:handoutMasterId r:id="rId40"/>
  </p:handoutMasterIdLst>
  <p:sldIdLst>
    <p:sldId id="256" r:id="rId2"/>
    <p:sldId id="259" r:id="rId3"/>
    <p:sldId id="295" r:id="rId4"/>
    <p:sldId id="297" r:id="rId5"/>
    <p:sldId id="298" r:id="rId6"/>
    <p:sldId id="299" r:id="rId7"/>
    <p:sldId id="257" r:id="rId8"/>
    <p:sldId id="260" r:id="rId9"/>
    <p:sldId id="261" r:id="rId10"/>
    <p:sldId id="262" r:id="rId11"/>
    <p:sldId id="263" r:id="rId12"/>
    <p:sldId id="264" r:id="rId13"/>
    <p:sldId id="265" r:id="rId14"/>
    <p:sldId id="272" r:id="rId15"/>
    <p:sldId id="273" r:id="rId16"/>
    <p:sldId id="274" r:id="rId17"/>
    <p:sldId id="275" r:id="rId18"/>
    <p:sldId id="276" r:id="rId19"/>
    <p:sldId id="278" r:id="rId20"/>
    <p:sldId id="291" r:id="rId21"/>
    <p:sldId id="292" r:id="rId22"/>
    <p:sldId id="293" r:id="rId23"/>
    <p:sldId id="294" r:id="rId24"/>
    <p:sldId id="279" r:id="rId25"/>
    <p:sldId id="283" r:id="rId26"/>
    <p:sldId id="301" r:id="rId27"/>
    <p:sldId id="302" r:id="rId28"/>
    <p:sldId id="300" r:id="rId29"/>
    <p:sldId id="284" r:id="rId30"/>
    <p:sldId id="285" r:id="rId31"/>
    <p:sldId id="286" r:id="rId32"/>
    <p:sldId id="287" r:id="rId33"/>
    <p:sldId id="282" r:id="rId34"/>
    <p:sldId id="289" r:id="rId35"/>
    <p:sldId id="304" r:id="rId36"/>
    <p:sldId id="303" r:id="rId37"/>
    <p:sldId id="305"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84" autoAdjust="0"/>
    <p:restoredTop sz="56233" autoAdjust="0"/>
  </p:normalViewPr>
  <p:slideViewPr>
    <p:cSldViewPr snapToGrid="0">
      <p:cViewPr>
        <p:scale>
          <a:sx n="50" d="100"/>
          <a:sy n="50" d="100"/>
        </p:scale>
        <p:origin x="2176" y="11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E4F84A-7EF2-8110-DDC9-2AFFA82DE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B1A806-14EE-F667-3DB0-A7D68DFE96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A1599D-8FA4-4027-9707-69072EB75097}" type="datetimeFigureOut">
              <a:rPr lang="en-US" smtClean="0"/>
              <a:t>2/12/2026</a:t>
            </a:fld>
            <a:endParaRPr lang="en-US"/>
          </a:p>
        </p:txBody>
      </p:sp>
      <p:sp>
        <p:nvSpPr>
          <p:cNvPr id="4" name="Footer Placeholder 3">
            <a:extLst>
              <a:ext uri="{FF2B5EF4-FFF2-40B4-BE49-F238E27FC236}">
                <a16:creationId xmlns:a16="http://schemas.microsoft.com/office/drawing/2014/main" id="{D70144F2-0656-695D-8EBE-CA632DE97B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5A266B-8BF7-CE52-9838-890B4CF2C0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AA05D0-306F-4755-8B3F-C6A1F03FF980}" type="slidenum">
              <a:rPr lang="en-US" smtClean="0"/>
              <a:t>‹#›</a:t>
            </a:fld>
            <a:endParaRPr lang="en-US"/>
          </a:p>
        </p:txBody>
      </p:sp>
    </p:spTree>
    <p:extLst>
      <p:ext uri="{BB962C8B-B14F-4D97-AF65-F5344CB8AC3E}">
        <p14:creationId xmlns:p14="http://schemas.microsoft.com/office/powerpoint/2010/main" val="30509001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bdca586d38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bdca586d38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Hi everyone, I am Raymond, and I am going to present on Task 3 of Track 4, Rapidly Exploring Random Tree Algorithm.</a:t>
            </a:r>
          </a:p>
          <a:p>
            <a:pPr marL="0" lvl="0" indent="0" algn="l" rtl="0">
              <a:spcBef>
                <a:spcPts val="0"/>
              </a:spcBef>
              <a:spcAft>
                <a:spcPts val="0"/>
              </a:spcAft>
              <a:buNone/>
            </a:pPr>
            <a:r>
              <a:rPr lang="en" dirty="0"/>
              <a:t>My presentation is based on the lecture video from Northwestern Robotics.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bdca586d3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ca586d3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Assume X is our problem space.</a:t>
            </a:r>
          </a:p>
          <a:p>
            <a:pPr marL="0" lvl="0" indent="0" algn="l" rtl="0">
              <a:spcBef>
                <a:spcPts val="0"/>
              </a:spcBef>
              <a:spcAft>
                <a:spcPts val="0"/>
              </a:spcAft>
              <a:buNone/>
            </a:pPr>
            <a:r>
              <a:rPr lang="en" dirty="0"/>
              <a:t>Our mission is to navigate from X_start to X_goal.</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147FAA81-E048-6B4A-5176-5A36EBCDA4E1}"/>
            </a:ext>
          </a:extLst>
        </p:cNvPr>
        <p:cNvGrpSpPr/>
        <p:nvPr/>
      </p:nvGrpSpPr>
      <p:grpSpPr>
        <a:xfrm>
          <a:off x="0" y="0"/>
          <a:ext cx="0" cy="0"/>
          <a:chOff x="0" y="0"/>
          <a:chExt cx="0" cy="0"/>
        </a:xfrm>
      </p:grpSpPr>
      <p:sp>
        <p:nvSpPr>
          <p:cNvPr id="76" name="Google Shape;76;g3bdca586d38_0_6:notes">
            <a:extLst>
              <a:ext uri="{FF2B5EF4-FFF2-40B4-BE49-F238E27FC236}">
                <a16:creationId xmlns:a16="http://schemas.microsoft.com/office/drawing/2014/main" id="{22D0C432-1C6D-44CB-2BCE-464CD8064B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ca586d38_0_6:notes">
            <a:extLst>
              <a:ext uri="{FF2B5EF4-FFF2-40B4-BE49-F238E27FC236}">
                <a16:creationId xmlns:a16="http://schemas.microsoft.com/office/drawing/2014/main" id="{7815A59E-1711-5376-EECA-AC264C43F4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algorithm randomly samples a point in the problem space and grow the search tree.</a:t>
            </a:r>
            <a:endParaRPr dirty="0"/>
          </a:p>
        </p:txBody>
      </p:sp>
    </p:spTree>
    <p:extLst>
      <p:ext uri="{BB962C8B-B14F-4D97-AF65-F5344CB8AC3E}">
        <p14:creationId xmlns:p14="http://schemas.microsoft.com/office/powerpoint/2010/main" val="3076649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FDDE3D6E-FA97-02B6-97AE-BE5C3CDAE004}"/>
            </a:ext>
          </a:extLst>
        </p:cNvPr>
        <p:cNvGrpSpPr/>
        <p:nvPr/>
      </p:nvGrpSpPr>
      <p:grpSpPr>
        <a:xfrm>
          <a:off x="0" y="0"/>
          <a:ext cx="0" cy="0"/>
          <a:chOff x="0" y="0"/>
          <a:chExt cx="0" cy="0"/>
        </a:xfrm>
      </p:grpSpPr>
      <p:sp>
        <p:nvSpPr>
          <p:cNvPr id="76" name="Google Shape;76;g3bdca586d38_0_6:notes">
            <a:extLst>
              <a:ext uri="{FF2B5EF4-FFF2-40B4-BE49-F238E27FC236}">
                <a16:creationId xmlns:a16="http://schemas.microsoft.com/office/drawing/2014/main" id="{C884BD54-690E-B4F9-8AFE-634EBFD152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ca586d38_0_6:notes">
            <a:extLst>
              <a:ext uri="{FF2B5EF4-FFF2-40B4-BE49-F238E27FC236}">
                <a16:creationId xmlns:a16="http://schemas.microsoft.com/office/drawing/2014/main" id="{E81B8142-A0E0-3543-F4FA-F69C4A674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algorithm randomly samples a point in the problem space and grow the search tree.</a:t>
            </a:r>
            <a:endParaRPr dirty="0"/>
          </a:p>
        </p:txBody>
      </p:sp>
    </p:spTree>
    <p:extLst>
      <p:ext uri="{BB962C8B-B14F-4D97-AF65-F5344CB8AC3E}">
        <p14:creationId xmlns:p14="http://schemas.microsoft.com/office/powerpoint/2010/main" val="3327836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C4B717FC-5657-F054-2F52-4BFF8861BAA9}"/>
            </a:ext>
          </a:extLst>
        </p:cNvPr>
        <p:cNvGrpSpPr/>
        <p:nvPr/>
      </p:nvGrpSpPr>
      <p:grpSpPr>
        <a:xfrm>
          <a:off x="0" y="0"/>
          <a:ext cx="0" cy="0"/>
          <a:chOff x="0" y="0"/>
          <a:chExt cx="0" cy="0"/>
        </a:xfrm>
      </p:grpSpPr>
      <p:sp>
        <p:nvSpPr>
          <p:cNvPr id="76" name="Google Shape;76;g3bdca586d38_0_6:notes">
            <a:extLst>
              <a:ext uri="{FF2B5EF4-FFF2-40B4-BE49-F238E27FC236}">
                <a16:creationId xmlns:a16="http://schemas.microsoft.com/office/drawing/2014/main" id="{0FD2E743-70BB-1B80-E23B-BB83710B00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ca586d38_0_6:notes">
            <a:extLst>
              <a:ext uri="{FF2B5EF4-FFF2-40B4-BE49-F238E27FC236}">
                <a16:creationId xmlns:a16="http://schemas.microsoft.com/office/drawing/2014/main" id="{D5C6706A-D037-31AE-B843-52B1C2A4EA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algorithm randomly samples a point in the problem space and grow the search tree.</a:t>
            </a:r>
            <a:endParaRPr dirty="0"/>
          </a:p>
        </p:txBody>
      </p:sp>
    </p:spTree>
    <p:extLst>
      <p:ext uri="{BB962C8B-B14F-4D97-AF65-F5344CB8AC3E}">
        <p14:creationId xmlns:p14="http://schemas.microsoft.com/office/powerpoint/2010/main" val="262472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91B290DB-147A-348A-B9D7-9546B5D54DA5}"/>
            </a:ext>
          </a:extLst>
        </p:cNvPr>
        <p:cNvGrpSpPr/>
        <p:nvPr/>
      </p:nvGrpSpPr>
      <p:grpSpPr>
        <a:xfrm>
          <a:off x="0" y="0"/>
          <a:ext cx="0" cy="0"/>
          <a:chOff x="0" y="0"/>
          <a:chExt cx="0" cy="0"/>
        </a:xfrm>
      </p:grpSpPr>
      <p:sp>
        <p:nvSpPr>
          <p:cNvPr id="76" name="Google Shape;76;g3bdca586d38_0_6:notes">
            <a:extLst>
              <a:ext uri="{FF2B5EF4-FFF2-40B4-BE49-F238E27FC236}">
                <a16:creationId xmlns:a16="http://schemas.microsoft.com/office/drawing/2014/main" id="{6B1D883B-F787-0346-014B-A973D3088D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ca586d38_0_6:notes">
            <a:extLst>
              <a:ext uri="{FF2B5EF4-FFF2-40B4-BE49-F238E27FC236}">
                <a16:creationId xmlns:a16="http://schemas.microsoft.com/office/drawing/2014/main" id="{C79F2CEE-6683-95F0-D98E-7425B7ED94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MY" dirty="0"/>
              <a:t>Every so often the sample </a:t>
            </a:r>
            <a:r>
              <a:rPr lang="en-MY" dirty="0" err="1"/>
              <a:t>X_sample</a:t>
            </a:r>
            <a:r>
              <a:rPr lang="en-MY" dirty="0"/>
              <a:t> should be chosen inside of </a:t>
            </a:r>
            <a:r>
              <a:rPr lang="en-MY" dirty="0" err="1"/>
              <a:t>X_goal</a:t>
            </a:r>
            <a:r>
              <a:rPr lang="en-MY" dirty="0"/>
              <a:t> to try to complete the planning problem.</a:t>
            </a:r>
          </a:p>
        </p:txBody>
      </p:sp>
    </p:spTree>
    <p:extLst>
      <p:ext uri="{BB962C8B-B14F-4D97-AF65-F5344CB8AC3E}">
        <p14:creationId xmlns:p14="http://schemas.microsoft.com/office/powerpoint/2010/main" val="143254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bdca586d3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bdca586d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MY" dirty="0"/>
              <a:t>The RRT is a sampling-based motion planner that applies to robots with arbitrary dynamics of the form x dot t equals f of </a:t>
            </a:r>
            <a:r>
              <a:rPr lang="en-MY" dirty="0" err="1"/>
              <a:t>xt</a:t>
            </a:r>
            <a:r>
              <a:rPr lang="en-MY" dirty="0"/>
              <a:t> and </a:t>
            </a:r>
            <a:r>
              <a:rPr lang="en-MY" dirty="0" err="1"/>
              <a:t>ut.</a:t>
            </a:r>
            <a:endParaRPr lang="en"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This arbitrary dynamics equation describes system dynamics: the rate of change of the state x depends on the current state and control input. In simple terms, how something moves depends on where it is and what action you apply to it.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If we dissect the equation, x(t) is the state vector at time t which describes the system’s condition. In the context of a robot, this could be the position &amp; velocity.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x˙(t) is the time derivative of te state. It represents how the state changes over time. If x is position, then x’ is velocity. It tells us the dynamics.</a:t>
            </a:r>
          </a:p>
          <a:p>
            <a:pPr marL="0" lvl="0" indent="0" algn="l" rtl="0">
              <a:spcBef>
                <a:spcPts val="0"/>
              </a:spcBef>
              <a:spcAft>
                <a:spcPts val="0"/>
              </a:spcAft>
              <a:buNone/>
            </a:pPr>
            <a:endParaRPr lang="en" dirty="0"/>
          </a:p>
          <a:p>
            <a:pPr marL="0" lvl="0" indent="0" algn="l" rtl="0">
              <a:spcBef>
                <a:spcPts val="0"/>
              </a:spcBef>
              <a:spcAft>
                <a:spcPts val="0"/>
              </a:spcAft>
              <a:buNone/>
            </a:pPr>
            <a:r>
              <a:rPr lang="en-US" dirty="0"/>
              <a:t>U</a:t>
            </a:r>
            <a:r>
              <a:rPr lang="en" dirty="0"/>
              <a:t>(t) is the control input, where it could be accelerate, turn left, turn right.</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dca586d3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dca586d3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rgbClr val="1A2850"/>
                </a:solidFill>
              </a:rPr>
              <a:t>And why RRT instead of randomly choosing a point around to obtain the solution path?</a:t>
            </a:r>
          </a:p>
          <a:p>
            <a:pPr marL="0" lvl="0" indent="0" algn="l" rtl="0">
              <a:spcBef>
                <a:spcPts val="0"/>
              </a:spcBef>
              <a:spcAft>
                <a:spcPts val="0"/>
              </a:spcAft>
              <a:buNone/>
            </a:pPr>
            <a:endParaRPr lang="en" sz="1400" dirty="0">
              <a:solidFill>
                <a:srgbClr val="1A2850"/>
              </a:solidFill>
            </a:endParaRPr>
          </a:p>
          <a:p>
            <a:pPr marL="0" lvl="0" indent="0" algn="l" rtl="0">
              <a:spcBef>
                <a:spcPts val="0"/>
              </a:spcBef>
              <a:spcAft>
                <a:spcPts val="0"/>
              </a:spcAft>
              <a:buNone/>
            </a:pPr>
            <a:r>
              <a:rPr lang="en" sz="1400" dirty="0">
                <a:solidFill>
                  <a:srgbClr val="1A2850"/>
                </a:solidFill>
              </a:rPr>
              <a:t>With RRT, samples are chosen uniformly randomly from the space, and the motion planer from the nearest node goes directly towards the sampled node, up to a maximum step size. The randomly chosen samples “pull” the tree to explore the state space.</a:t>
            </a:r>
            <a:endParaRPr sz="1400" dirty="0">
              <a:solidFill>
                <a:srgbClr val="1A2850"/>
              </a:solidFill>
            </a:endParaRPr>
          </a:p>
          <a:p>
            <a:pPr marL="0" lvl="0" indent="0" algn="l" rtl="0">
              <a:spcBef>
                <a:spcPts val="0"/>
              </a:spcBef>
              <a:spcAft>
                <a:spcPts val="0"/>
              </a:spcAft>
              <a:buNone/>
            </a:pPr>
            <a:endParaRPr dirty="0"/>
          </a:p>
          <a:p>
            <a:pPr marL="0" lvl="0" indent="0" algn="l" rtl="0">
              <a:spcBef>
                <a:spcPts val="0"/>
              </a:spcBef>
              <a:spcAft>
                <a:spcPts val="0"/>
              </a:spcAft>
              <a:buNone/>
            </a:pPr>
            <a:r>
              <a:rPr lang="en" sz="1400" dirty="0">
                <a:solidFill>
                  <a:srgbClr val="1A2850"/>
                </a:solidFill>
              </a:rPr>
              <a:t>Compare this to a random walk, where at each step the tree is grown from a randomly chosen node by the maximum step size in a randomly chosen direction, After the same number of nodes, the random walk has not explored very much of the state space.</a:t>
            </a:r>
            <a:endParaRPr sz="1400" dirty="0">
              <a:solidFill>
                <a:srgbClr val="1A2850"/>
              </a:solidFill>
            </a:endParaRP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dca586d3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bdca586d3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is the pseudocode of the RRT Algorithm.</a:t>
            </a:r>
            <a:endParaRPr dirty="0"/>
          </a:p>
          <a:p>
            <a:pPr marL="0" lvl="0" indent="0" algn="l" rtl="0">
              <a:spcBef>
                <a:spcPts val="0"/>
              </a:spcBef>
              <a:spcAft>
                <a:spcPts val="0"/>
              </a:spcAft>
              <a:buNone/>
            </a:pPr>
            <a:r>
              <a:rPr lang="en" dirty="0"/>
              <a:t>In line 3, we sample from the state space.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dca586d38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bdca586d38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line 4, we find the nearest node already in the tree.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dca586d3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bdca586d3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line 5, we use a local planner to find a motion from this nearest node to a state closer to the sampled state.</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bdca586d38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bdca586d38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lines 6 and 7, a new edge is added to the tree if the motion from line 5 is collision free.</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dca586d38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dca586d38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Finally, in lines 8 and 9, we check to see if the new node is in the goal region, and if so, the planner has succeeded.</a:t>
            </a:r>
            <a:endParaRPr dirty="0"/>
          </a:p>
          <a:p>
            <a:pPr marL="0" lvl="0" indent="0" algn="l" rtl="0">
              <a:spcBef>
                <a:spcPts val="0"/>
              </a:spcBef>
              <a:spcAft>
                <a:spcPts val="0"/>
              </a:spcAft>
              <a:buNone/>
            </a:pPr>
            <a:r>
              <a:rPr lang="en" dirty="0"/>
              <a:t>The plan is reconstructed by following the sequence of parent nodes backward from the node in the goal region.</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dca586d38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dca586d3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Let’s focus on line 4. Line 4 chooses the node in the tree that is closest to the new sample.</a:t>
            </a:r>
            <a:endParaRPr dirty="0">
              <a:solidFill>
                <a:schemeClr val="dk1"/>
              </a:solidFill>
            </a:endParaRPr>
          </a:p>
          <a:p>
            <a:pPr marL="0" lvl="0" indent="0" algn="l" rtl="0">
              <a:spcBef>
                <a:spcPts val="0"/>
              </a:spcBef>
              <a:spcAft>
                <a:spcPts val="0"/>
              </a:spcAft>
              <a:buNone/>
            </a:pPr>
            <a:r>
              <a:rPr lang="en" dirty="0">
                <a:solidFill>
                  <a:schemeClr val="dk1"/>
                </a:solidFill>
              </a:rPr>
              <a:t>For example, if the configuration consists of linear and angular coordinates, how do we compare a distance of one radian to a distance of one meter?</a:t>
            </a:r>
            <a:endParaRPr dirty="0">
              <a:solidFill>
                <a:schemeClr val="dk1"/>
              </a:solidFill>
            </a:endParaRPr>
          </a:p>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bdca586d38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bdca586d38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As an example, this blue car represents a sampled configuration of a car and these white cars represent configurations of nodes already in the tree.</a:t>
            </a:r>
            <a:endParaRPr dirty="0">
              <a:solidFill>
                <a:schemeClr val="dk1"/>
              </a:solidFill>
            </a:endParaRPr>
          </a:p>
          <a:p>
            <a:pPr marL="0" lvl="0" indent="0" algn="l" rtl="0">
              <a:spcBef>
                <a:spcPts val="0"/>
              </a:spcBef>
              <a:spcAft>
                <a:spcPts val="0"/>
              </a:spcAft>
              <a:buNone/>
            </a:pPr>
            <a:r>
              <a:rPr lang="en" dirty="0">
                <a:solidFill>
                  <a:schemeClr val="dk1"/>
                </a:solidFill>
              </a:rPr>
              <a:t>Which of these configurations is closest to the sample?</a:t>
            </a:r>
            <a:endParaRPr dirty="0">
              <a:solidFill>
                <a:schemeClr val="dk1"/>
              </a:solidFill>
            </a:endParaRPr>
          </a:p>
          <a:p>
            <a:pPr marL="0" lvl="0" indent="0" algn="l" rtl="0">
              <a:spcBef>
                <a:spcPts val="0"/>
              </a:spcBef>
              <a:spcAft>
                <a:spcPts val="0"/>
              </a:spcAft>
              <a:buNone/>
            </a:pPr>
            <a:r>
              <a:rPr lang="en" dirty="0">
                <a:solidFill>
                  <a:schemeClr val="dk1"/>
                </a:solidFill>
              </a:rPr>
              <a:t>I would say that this configuration is probably the closest, since a path to the sample probably takes less time than paths from the other configurations, considering the car’s motion constraints.</a:t>
            </a:r>
            <a:endParaRPr dirty="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bdca586d38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bdca586d38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As another example, this blue car represents a sampled configuration of a car and these white cars represent configurations of nodes already in the tree.</a:t>
            </a:r>
            <a:endParaRPr>
              <a:solidFill>
                <a:schemeClr val="dk1"/>
              </a:solidFill>
            </a:endParaRPr>
          </a:p>
          <a:p>
            <a:pPr marL="0" lvl="0" indent="0" algn="l" rtl="0">
              <a:spcBef>
                <a:spcPts val="0"/>
              </a:spcBef>
              <a:spcAft>
                <a:spcPts val="0"/>
              </a:spcAft>
              <a:buNone/>
            </a:pPr>
            <a:r>
              <a:rPr lang="en">
                <a:solidFill>
                  <a:schemeClr val="dk1"/>
                </a:solidFill>
              </a:rPr>
              <a:t>Which of these configurations is closest to the sample?</a:t>
            </a:r>
            <a:endParaRPr>
              <a:solidFill>
                <a:schemeClr val="dk1"/>
              </a:solidFill>
            </a:endParaRPr>
          </a:p>
          <a:p>
            <a:pPr marL="0" lvl="0" indent="0" algn="l" rtl="0">
              <a:spcBef>
                <a:spcPts val="0"/>
              </a:spcBef>
              <a:spcAft>
                <a:spcPts val="0"/>
              </a:spcAft>
              <a:buNone/>
            </a:pPr>
            <a:r>
              <a:rPr lang="en">
                <a:solidFill>
                  <a:schemeClr val="dk1"/>
                </a:solidFill>
              </a:rPr>
              <a:t>I would say that this configuration is probably the closest, since a path to the sample probably takes less time than paths from the other configurations, considering the car’s motion constraints.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bdca586d38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bdca586d38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As another example, this blue car represents a sampled configuration of a car and these white cars represent configurations of nodes already in the tree.</a:t>
            </a:r>
            <a:endParaRPr>
              <a:solidFill>
                <a:schemeClr val="dk1"/>
              </a:solidFill>
            </a:endParaRPr>
          </a:p>
          <a:p>
            <a:pPr marL="0" lvl="0" indent="0" algn="l" rtl="0">
              <a:spcBef>
                <a:spcPts val="0"/>
              </a:spcBef>
              <a:spcAft>
                <a:spcPts val="0"/>
              </a:spcAft>
              <a:buNone/>
            </a:pPr>
            <a:r>
              <a:rPr lang="en">
                <a:solidFill>
                  <a:schemeClr val="dk1"/>
                </a:solidFill>
              </a:rPr>
              <a:t>Which of these configurations is closest to the sample?</a:t>
            </a:r>
            <a:endParaRPr>
              <a:solidFill>
                <a:schemeClr val="dk1"/>
              </a:solidFill>
            </a:endParaRPr>
          </a:p>
          <a:p>
            <a:pPr marL="0" lvl="0" indent="0" algn="l" rtl="0">
              <a:spcBef>
                <a:spcPts val="0"/>
              </a:spcBef>
              <a:spcAft>
                <a:spcPts val="0"/>
              </a:spcAft>
              <a:buNone/>
            </a:pPr>
            <a:r>
              <a:rPr lang="en">
                <a:solidFill>
                  <a:schemeClr val="dk1"/>
                </a:solidFill>
              </a:rPr>
              <a:t>I would say that this configuration is probably the closest, since a path to the sample probably takes less time than paths from the other configurations, considering the car’s motion constraints.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bdca586d38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bdca586d38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And hence line 5 is the local planner that plans on how to move the robot to the new point.</a:t>
            </a:r>
            <a:endParaRPr dirty="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bdca586d3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dca586d3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For example, a car-like robot has 2 controls:</a:t>
            </a:r>
            <a:endParaRPr dirty="0">
              <a:solidFill>
                <a:schemeClr val="dk1"/>
              </a:solidFill>
            </a:endParaRPr>
          </a:p>
          <a:p>
            <a:pPr marL="0" lvl="0" indent="0" algn="l" rtl="0">
              <a:spcBef>
                <a:spcPts val="0"/>
              </a:spcBef>
              <a:spcAft>
                <a:spcPts val="0"/>
              </a:spcAft>
              <a:buNone/>
            </a:pPr>
            <a:r>
              <a:rPr lang="en" dirty="0">
                <a:solidFill>
                  <a:schemeClr val="dk1"/>
                </a:solidFill>
              </a:rPr>
              <a:t>The linear velocity v and the angular velocity omega.</a:t>
            </a:r>
            <a:endParaRPr dirty="0">
              <a:solidFill>
                <a:schemeClr val="dk1"/>
              </a:solidFill>
            </a:endParaRPr>
          </a:p>
          <a:p>
            <a:pPr marL="0" lvl="0" indent="0" algn="l" rtl="0">
              <a:spcBef>
                <a:spcPts val="0"/>
              </a:spcBef>
              <a:spcAft>
                <a:spcPts val="0"/>
              </a:spcAft>
              <a:buNone/>
            </a:pPr>
            <a:r>
              <a:rPr lang="en" dirty="0">
                <a:solidFill>
                  <a:schemeClr val="dk1"/>
                </a:solidFill>
              </a:rPr>
              <a:t>For a car with a bounded linear speed and a bounded turning radius, the bounds on the controls look like this bowtie.</a:t>
            </a:r>
            <a:endParaRPr dirty="0">
              <a:solidFill>
                <a:schemeClr val="dk1"/>
              </a:solidFill>
            </a:endParaRPr>
          </a:p>
          <a:p>
            <a:pPr marL="0" lvl="0" indent="0" algn="l" rtl="0">
              <a:spcBef>
                <a:spcPts val="0"/>
              </a:spcBef>
              <a:spcAft>
                <a:spcPts val="0"/>
              </a:spcAft>
              <a:buNone/>
            </a:pPr>
            <a:r>
              <a:rPr lang="en" dirty="0">
                <a:solidFill>
                  <a:schemeClr val="dk1"/>
                </a:solidFill>
              </a:rPr>
              <a:t>We can discretize this control set as 6 velocities, including forward motion, backward motion, and turns at the tightest turning radius. The integrals of these controls are shown here.</a:t>
            </a:r>
            <a:endParaRPr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A164F9C3-5327-5F41-C938-8F5BE738C305}"/>
            </a:ext>
          </a:extLst>
        </p:cNvPr>
        <p:cNvGrpSpPr/>
        <p:nvPr/>
      </p:nvGrpSpPr>
      <p:grpSpPr>
        <a:xfrm>
          <a:off x="0" y="0"/>
          <a:ext cx="0" cy="0"/>
          <a:chOff x="0" y="0"/>
          <a:chExt cx="0" cy="0"/>
        </a:xfrm>
      </p:grpSpPr>
      <p:sp>
        <p:nvSpPr>
          <p:cNvPr id="221" name="Google Shape;221;g3bdca586d38_0_70:notes">
            <a:extLst>
              <a:ext uri="{FF2B5EF4-FFF2-40B4-BE49-F238E27FC236}">
                <a16:creationId xmlns:a16="http://schemas.microsoft.com/office/drawing/2014/main" id="{59B0BB00-F0AB-ECB6-1F63-865937F3DC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dca586d38_0_70:notes">
            <a:extLst>
              <a:ext uri="{FF2B5EF4-FFF2-40B4-BE49-F238E27FC236}">
                <a16:creationId xmlns:a16="http://schemas.microsoft.com/office/drawing/2014/main" id="{A66F1AFB-4BE2-6DF1-ACEE-2A8F5CC377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For example, a car-like robot has 2 controls:</a:t>
            </a:r>
            <a:endParaRPr dirty="0">
              <a:solidFill>
                <a:schemeClr val="dk1"/>
              </a:solidFill>
            </a:endParaRPr>
          </a:p>
          <a:p>
            <a:pPr marL="0" lvl="0" indent="0" algn="l" rtl="0">
              <a:spcBef>
                <a:spcPts val="0"/>
              </a:spcBef>
              <a:spcAft>
                <a:spcPts val="0"/>
              </a:spcAft>
              <a:buNone/>
            </a:pPr>
            <a:r>
              <a:rPr lang="en" dirty="0">
                <a:solidFill>
                  <a:schemeClr val="dk1"/>
                </a:solidFill>
              </a:rPr>
              <a:t>The linear velocity v and the angular velocity omega.</a:t>
            </a:r>
            <a:endParaRPr dirty="0">
              <a:solidFill>
                <a:schemeClr val="dk1"/>
              </a:solidFill>
            </a:endParaRPr>
          </a:p>
          <a:p>
            <a:pPr marL="0" lvl="0" indent="0" algn="l" rtl="0">
              <a:spcBef>
                <a:spcPts val="0"/>
              </a:spcBef>
              <a:spcAft>
                <a:spcPts val="0"/>
              </a:spcAft>
              <a:buNone/>
            </a:pPr>
            <a:r>
              <a:rPr lang="en" dirty="0">
                <a:solidFill>
                  <a:schemeClr val="dk1"/>
                </a:solidFill>
              </a:rPr>
              <a:t>For a car with a bounded linear speed and a bounded turning radius, the bounds on the controls look like this bowtie.</a:t>
            </a:r>
            <a:endParaRPr dirty="0">
              <a:solidFill>
                <a:schemeClr val="dk1"/>
              </a:solidFill>
            </a:endParaRPr>
          </a:p>
          <a:p>
            <a:pPr marL="0" lvl="0" indent="0" algn="l" rtl="0">
              <a:spcBef>
                <a:spcPts val="0"/>
              </a:spcBef>
              <a:spcAft>
                <a:spcPts val="0"/>
              </a:spcAft>
              <a:buNone/>
            </a:pPr>
            <a:r>
              <a:rPr lang="en" dirty="0">
                <a:solidFill>
                  <a:schemeClr val="dk1"/>
                </a:solidFill>
              </a:rPr>
              <a:t>We can discretize this control set as 6 velocities, including forward motion, backward motion, and turns at the tightest turning radius. The integrals of these controls are shown here.</a:t>
            </a:r>
            <a:endParaRPr dirty="0">
              <a:solidFill>
                <a:schemeClr val="dk1"/>
              </a:solidFill>
            </a:endParaRPr>
          </a:p>
        </p:txBody>
      </p:sp>
    </p:spTree>
    <p:extLst>
      <p:ext uri="{BB962C8B-B14F-4D97-AF65-F5344CB8AC3E}">
        <p14:creationId xmlns:p14="http://schemas.microsoft.com/office/powerpoint/2010/main" val="2492319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887BC365-BA91-BFA5-B2CA-43C742521AEE}"/>
            </a:ext>
          </a:extLst>
        </p:cNvPr>
        <p:cNvGrpSpPr/>
        <p:nvPr/>
      </p:nvGrpSpPr>
      <p:grpSpPr>
        <a:xfrm>
          <a:off x="0" y="0"/>
          <a:ext cx="0" cy="0"/>
          <a:chOff x="0" y="0"/>
          <a:chExt cx="0" cy="0"/>
        </a:xfrm>
      </p:grpSpPr>
      <p:sp>
        <p:nvSpPr>
          <p:cNvPr id="221" name="Google Shape;221;g3bdca586d38_0_70:notes">
            <a:extLst>
              <a:ext uri="{FF2B5EF4-FFF2-40B4-BE49-F238E27FC236}">
                <a16:creationId xmlns:a16="http://schemas.microsoft.com/office/drawing/2014/main" id="{9F397860-FCD6-C3DE-2BF3-44EC22C11D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dca586d38_0_70:notes">
            <a:extLst>
              <a:ext uri="{FF2B5EF4-FFF2-40B4-BE49-F238E27FC236}">
                <a16:creationId xmlns:a16="http://schemas.microsoft.com/office/drawing/2014/main" id="{3889DBA7-BD33-D81E-6E1E-E6A1EBC9FE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For example, a car-like robot has 2 controls:</a:t>
            </a:r>
            <a:endParaRPr dirty="0">
              <a:solidFill>
                <a:schemeClr val="dk1"/>
              </a:solidFill>
            </a:endParaRPr>
          </a:p>
          <a:p>
            <a:pPr marL="0" lvl="0" indent="0" algn="l" rtl="0">
              <a:spcBef>
                <a:spcPts val="0"/>
              </a:spcBef>
              <a:spcAft>
                <a:spcPts val="0"/>
              </a:spcAft>
              <a:buNone/>
            </a:pPr>
            <a:r>
              <a:rPr lang="en" dirty="0">
                <a:solidFill>
                  <a:schemeClr val="dk1"/>
                </a:solidFill>
              </a:rPr>
              <a:t>The linear velocity v and the angular velocity omega.</a:t>
            </a:r>
            <a:endParaRPr dirty="0">
              <a:solidFill>
                <a:schemeClr val="dk1"/>
              </a:solidFill>
            </a:endParaRPr>
          </a:p>
          <a:p>
            <a:pPr marL="0" lvl="0" indent="0" algn="l" rtl="0">
              <a:spcBef>
                <a:spcPts val="0"/>
              </a:spcBef>
              <a:spcAft>
                <a:spcPts val="0"/>
              </a:spcAft>
              <a:buNone/>
            </a:pPr>
            <a:r>
              <a:rPr lang="en" dirty="0">
                <a:solidFill>
                  <a:schemeClr val="dk1"/>
                </a:solidFill>
              </a:rPr>
              <a:t>For a car with a bounded linear speed and a bounded turning radius, the bounds on the controls look like this bowtie.</a:t>
            </a:r>
            <a:endParaRPr dirty="0">
              <a:solidFill>
                <a:schemeClr val="dk1"/>
              </a:solidFill>
            </a:endParaRPr>
          </a:p>
          <a:p>
            <a:pPr marL="0" lvl="0" indent="0" algn="l" rtl="0">
              <a:spcBef>
                <a:spcPts val="0"/>
              </a:spcBef>
              <a:spcAft>
                <a:spcPts val="0"/>
              </a:spcAft>
              <a:buNone/>
            </a:pPr>
            <a:r>
              <a:rPr lang="en" dirty="0">
                <a:solidFill>
                  <a:schemeClr val="dk1"/>
                </a:solidFill>
              </a:rPr>
              <a:t>We can discretize this control set as 6 velocities, including forward motion, backward motion, and turns at the tightest turning radius. The integrals of these controls are shown here.</a:t>
            </a:r>
            <a:endParaRPr dirty="0">
              <a:solidFill>
                <a:schemeClr val="dk1"/>
              </a:solidFill>
            </a:endParaRPr>
          </a:p>
        </p:txBody>
      </p:sp>
    </p:spTree>
    <p:extLst>
      <p:ext uri="{BB962C8B-B14F-4D97-AF65-F5344CB8AC3E}">
        <p14:creationId xmlns:p14="http://schemas.microsoft.com/office/powerpoint/2010/main" val="21865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CA648462-6147-2127-95E5-3974EC618F77}"/>
            </a:ext>
          </a:extLst>
        </p:cNvPr>
        <p:cNvGrpSpPr/>
        <p:nvPr/>
      </p:nvGrpSpPr>
      <p:grpSpPr>
        <a:xfrm>
          <a:off x="0" y="0"/>
          <a:ext cx="0" cy="0"/>
          <a:chOff x="0" y="0"/>
          <a:chExt cx="0" cy="0"/>
        </a:xfrm>
      </p:grpSpPr>
      <p:sp>
        <p:nvSpPr>
          <p:cNvPr id="221" name="Google Shape;221;g3bdca586d38_0_70:notes">
            <a:extLst>
              <a:ext uri="{FF2B5EF4-FFF2-40B4-BE49-F238E27FC236}">
                <a16:creationId xmlns:a16="http://schemas.microsoft.com/office/drawing/2014/main" id="{8D10E6F7-8E87-94FA-E925-2D04036FB4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dca586d38_0_70:notes">
            <a:extLst>
              <a:ext uri="{FF2B5EF4-FFF2-40B4-BE49-F238E27FC236}">
                <a16:creationId xmlns:a16="http://schemas.microsoft.com/office/drawing/2014/main" id="{86D18CA0-E796-1852-CE02-BA5A9423C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For example, a car-like robot has 2 controls:</a:t>
            </a:r>
            <a:endParaRPr dirty="0">
              <a:solidFill>
                <a:schemeClr val="dk1"/>
              </a:solidFill>
            </a:endParaRPr>
          </a:p>
          <a:p>
            <a:pPr marL="0" lvl="0" indent="0" algn="l" rtl="0">
              <a:spcBef>
                <a:spcPts val="0"/>
              </a:spcBef>
              <a:spcAft>
                <a:spcPts val="0"/>
              </a:spcAft>
              <a:buNone/>
            </a:pPr>
            <a:r>
              <a:rPr lang="en" dirty="0">
                <a:solidFill>
                  <a:schemeClr val="dk1"/>
                </a:solidFill>
              </a:rPr>
              <a:t>The linear velocity v and the angular velocity omega.</a:t>
            </a:r>
            <a:endParaRPr dirty="0">
              <a:solidFill>
                <a:schemeClr val="dk1"/>
              </a:solidFill>
            </a:endParaRPr>
          </a:p>
          <a:p>
            <a:pPr marL="0" lvl="0" indent="0" algn="l" rtl="0">
              <a:spcBef>
                <a:spcPts val="0"/>
              </a:spcBef>
              <a:spcAft>
                <a:spcPts val="0"/>
              </a:spcAft>
              <a:buNone/>
            </a:pPr>
            <a:r>
              <a:rPr lang="en" dirty="0">
                <a:solidFill>
                  <a:schemeClr val="dk1"/>
                </a:solidFill>
              </a:rPr>
              <a:t>For a car with a bounded linear speed and a bounded turning radius, the bounds on the controls look like this bowtie.</a:t>
            </a:r>
            <a:endParaRPr dirty="0">
              <a:solidFill>
                <a:schemeClr val="dk1"/>
              </a:solidFill>
            </a:endParaRPr>
          </a:p>
          <a:p>
            <a:pPr marL="0" lvl="0" indent="0" algn="l" rtl="0">
              <a:spcBef>
                <a:spcPts val="0"/>
              </a:spcBef>
              <a:spcAft>
                <a:spcPts val="0"/>
              </a:spcAft>
              <a:buNone/>
            </a:pPr>
            <a:r>
              <a:rPr lang="en" dirty="0">
                <a:solidFill>
                  <a:schemeClr val="dk1"/>
                </a:solidFill>
              </a:rPr>
              <a:t>We can discretize this control set as 6 velocities, including forward motion, backward motion, and turns at the tightest turning radius. The integrals of these controls are shown here.</a:t>
            </a:r>
            <a:endParaRPr dirty="0">
              <a:solidFill>
                <a:schemeClr val="dk1"/>
              </a:solidFill>
            </a:endParaRPr>
          </a:p>
        </p:txBody>
      </p:sp>
    </p:spTree>
    <p:extLst>
      <p:ext uri="{BB962C8B-B14F-4D97-AF65-F5344CB8AC3E}">
        <p14:creationId xmlns:p14="http://schemas.microsoft.com/office/powerpoint/2010/main" val="790121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D129B66D-5F31-BCA9-1E1B-221D6F8044F9}"/>
            </a:ext>
          </a:extLst>
        </p:cNvPr>
        <p:cNvGrpSpPr/>
        <p:nvPr/>
      </p:nvGrpSpPr>
      <p:grpSpPr>
        <a:xfrm>
          <a:off x="0" y="0"/>
          <a:ext cx="0" cy="0"/>
          <a:chOff x="0" y="0"/>
          <a:chExt cx="0" cy="0"/>
        </a:xfrm>
      </p:grpSpPr>
      <p:sp>
        <p:nvSpPr>
          <p:cNvPr id="221" name="Google Shape;221;g3bdca586d38_0_70:notes">
            <a:extLst>
              <a:ext uri="{FF2B5EF4-FFF2-40B4-BE49-F238E27FC236}">
                <a16:creationId xmlns:a16="http://schemas.microsoft.com/office/drawing/2014/main" id="{20373EC1-C9C6-42DE-D304-3CF8510078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dca586d38_0_70:notes">
            <a:extLst>
              <a:ext uri="{FF2B5EF4-FFF2-40B4-BE49-F238E27FC236}">
                <a16:creationId xmlns:a16="http://schemas.microsoft.com/office/drawing/2014/main" id="{20637451-1B41-2DC2-DA1C-898CAF4306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For example, a car-like robot has 2 controls:</a:t>
            </a:r>
            <a:endParaRPr dirty="0">
              <a:solidFill>
                <a:schemeClr val="dk1"/>
              </a:solidFill>
            </a:endParaRPr>
          </a:p>
          <a:p>
            <a:pPr marL="0" lvl="0" indent="0" algn="l" rtl="0">
              <a:spcBef>
                <a:spcPts val="0"/>
              </a:spcBef>
              <a:spcAft>
                <a:spcPts val="0"/>
              </a:spcAft>
              <a:buNone/>
            </a:pPr>
            <a:r>
              <a:rPr lang="en" dirty="0">
                <a:solidFill>
                  <a:schemeClr val="dk1"/>
                </a:solidFill>
              </a:rPr>
              <a:t>The linear velocity v and the angular velocity omega.</a:t>
            </a:r>
            <a:endParaRPr dirty="0">
              <a:solidFill>
                <a:schemeClr val="dk1"/>
              </a:solidFill>
            </a:endParaRPr>
          </a:p>
          <a:p>
            <a:pPr marL="0" lvl="0" indent="0" algn="l" rtl="0">
              <a:spcBef>
                <a:spcPts val="0"/>
              </a:spcBef>
              <a:spcAft>
                <a:spcPts val="0"/>
              </a:spcAft>
              <a:buNone/>
            </a:pPr>
            <a:r>
              <a:rPr lang="en" dirty="0">
                <a:solidFill>
                  <a:schemeClr val="dk1"/>
                </a:solidFill>
              </a:rPr>
              <a:t>For a car with a bounded linear speed and a bounded turning radius, the bounds on the controls look like this bowtie.</a:t>
            </a:r>
            <a:endParaRPr dirty="0">
              <a:solidFill>
                <a:schemeClr val="dk1"/>
              </a:solidFill>
            </a:endParaRPr>
          </a:p>
          <a:p>
            <a:pPr marL="0" lvl="0" indent="0" algn="l" rtl="0">
              <a:spcBef>
                <a:spcPts val="0"/>
              </a:spcBef>
              <a:spcAft>
                <a:spcPts val="0"/>
              </a:spcAft>
              <a:buNone/>
            </a:pPr>
            <a:r>
              <a:rPr lang="en" dirty="0">
                <a:solidFill>
                  <a:schemeClr val="dk1"/>
                </a:solidFill>
              </a:rPr>
              <a:t>We can discretize this control set as 6 velocities, including forward motion, backward motion, and turns at the tightest turning radius. The integrals of these controls are shown here.</a:t>
            </a:r>
            <a:endParaRPr dirty="0">
              <a:solidFill>
                <a:schemeClr val="dk1"/>
              </a:solidFill>
            </a:endParaRPr>
          </a:p>
        </p:txBody>
      </p:sp>
    </p:spTree>
    <p:extLst>
      <p:ext uri="{BB962C8B-B14F-4D97-AF65-F5344CB8AC3E}">
        <p14:creationId xmlns:p14="http://schemas.microsoft.com/office/powerpoint/2010/main" val="678912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dca586d38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bdca586d38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If the sampled state is here, then the closest integrated state is shown here.</a:t>
            </a:r>
            <a:endParaRPr dirty="0">
              <a:solidFill>
                <a:schemeClr val="dk1"/>
              </a:solidFill>
            </a:endParaRPr>
          </a:p>
          <a:p>
            <a:pPr marL="0" lvl="0" indent="0" algn="l" rtl="0">
              <a:spcBef>
                <a:spcPts val="0"/>
              </a:spcBef>
              <a:spcAft>
                <a:spcPts val="0"/>
              </a:spcAft>
              <a:buNone/>
            </a:pPr>
            <a:r>
              <a:rPr lang="en" dirty="0">
                <a:solidFill>
                  <a:schemeClr val="dk1"/>
                </a:solidFill>
              </a:rPr>
              <a:t>If this path is collision free, then x_new will be added to the RRT.</a:t>
            </a:r>
            <a:endParaRPr dirty="0">
              <a:solidFill>
                <a:schemeClr val="dk1"/>
              </a:solidFill>
            </a:endParaRPr>
          </a:p>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bdca586d38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bdca586d3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to simply recap the flow of RRT Algorithm, first we roll the dice and sample a potential solution in the problem space.</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0F984607-5498-41A1-C38E-88D272FD8042}"/>
            </a:ext>
          </a:extLst>
        </p:cNvPr>
        <p:cNvGrpSpPr/>
        <p:nvPr/>
      </p:nvGrpSpPr>
      <p:grpSpPr>
        <a:xfrm>
          <a:off x="0" y="0"/>
          <a:ext cx="0" cy="0"/>
          <a:chOff x="0" y="0"/>
          <a:chExt cx="0" cy="0"/>
        </a:xfrm>
      </p:grpSpPr>
      <p:sp>
        <p:nvSpPr>
          <p:cNvPr id="258" name="Google Shape;258;g3bdca586d38_0_114:notes">
            <a:extLst>
              <a:ext uri="{FF2B5EF4-FFF2-40B4-BE49-F238E27FC236}">
                <a16:creationId xmlns:a16="http://schemas.microsoft.com/office/drawing/2014/main" id="{953832F1-50EE-D6AF-ACA8-7B16DEE773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bdca586d38_0_114:notes">
            <a:extLst>
              <a:ext uri="{FF2B5EF4-FFF2-40B4-BE49-F238E27FC236}">
                <a16:creationId xmlns:a16="http://schemas.microsoft.com/office/drawing/2014/main" id="{67EC69AB-C39C-1B0A-9C22-F7975C528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It could be here</a:t>
            </a:r>
            <a:endParaRPr dirty="0"/>
          </a:p>
        </p:txBody>
      </p:sp>
    </p:spTree>
    <p:extLst>
      <p:ext uri="{BB962C8B-B14F-4D97-AF65-F5344CB8AC3E}">
        <p14:creationId xmlns:p14="http://schemas.microsoft.com/office/powerpoint/2010/main" val="1621967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EF0F9217-A9AF-C250-FB94-B26AA20BB9B0}"/>
            </a:ext>
          </a:extLst>
        </p:cNvPr>
        <p:cNvGrpSpPr/>
        <p:nvPr/>
      </p:nvGrpSpPr>
      <p:grpSpPr>
        <a:xfrm>
          <a:off x="0" y="0"/>
          <a:ext cx="0" cy="0"/>
          <a:chOff x="0" y="0"/>
          <a:chExt cx="0" cy="0"/>
        </a:xfrm>
      </p:grpSpPr>
      <p:sp>
        <p:nvSpPr>
          <p:cNvPr id="258" name="Google Shape;258;g3bdca586d38_0_114:notes">
            <a:extLst>
              <a:ext uri="{FF2B5EF4-FFF2-40B4-BE49-F238E27FC236}">
                <a16:creationId xmlns:a16="http://schemas.microsoft.com/office/drawing/2014/main" id="{FCF7D6D5-3BC0-4056-AC80-3BA96E646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bdca586d38_0_114:notes">
            <a:extLst>
              <a:ext uri="{FF2B5EF4-FFF2-40B4-BE49-F238E27FC236}">
                <a16:creationId xmlns:a16="http://schemas.microsoft.com/office/drawing/2014/main" id="{2C46928A-3F5F-09A9-B7FB-0995CDB42E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a:t>
            </a:r>
            <a:endParaRPr dirty="0"/>
          </a:p>
        </p:txBody>
      </p:sp>
    </p:spTree>
    <p:extLst>
      <p:ext uri="{BB962C8B-B14F-4D97-AF65-F5344CB8AC3E}">
        <p14:creationId xmlns:p14="http://schemas.microsoft.com/office/powerpoint/2010/main" val="2614953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C7AE5BAC-8559-678A-8071-7E7D4DF339EE}"/>
            </a:ext>
          </a:extLst>
        </p:cNvPr>
        <p:cNvGrpSpPr/>
        <p:nvPr/>
      </p:nvGrpSpPr>
      <p:grpSpPr>
        <a:xfrm>
          <a:off x="0" y="0"/>
          <a:ext cx="0" cy="0"/>
          <a:chOff x="0" y="0"/>
          <a:chExt cx="0" cy="0"/>
        </a:xfrm>
      </p:grpSpPr>
      <p:sp>
        <p:nvSpPr>
          <p:cNvPr id="258" name="Google Shape;258;g3bdca586d38_0_114:notes">
            <a:extLst>
              <a:ext uri="{FF2B5EF4-FFF2-40B4-BE49-F238E27FC236}">
                <a16:creationId xmlns:a16="http://schemas.microsoft.com/office/drawing/2014/main" id="{A0F8EECF-B068-7C03-A364-AC5E4EA8E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bdca586d38_0_114:notes">
            <a:extLst>
              <a:ext uri="{FF2B5EF4-FFF2-40B4-BE49-F238E27FC236}">
                <a16:creationId xmlns:a16="http://schemas.microsoft.com/office/drawing/2014/main" id="{9D64D166-581E-96A2-6BBF-9251BF8D8D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a:t>
            </a:r>
            <a:r>
              <a:rPr lang="en" dirty="0"/>
              <a:t>r here.</a:t>
            </a:r>
            <a:endParaRPr dirty="0"/>
          </a:p>
        </p:txBody>
      </p:sp>
    </p:spTree>
    <p:extLst>
      <p:ext uri="{BB962C8B-B14F-4D97-AF65-F5344CB8AC3E}">
        <p14:creationId xmlns:p14="http://schemas.microsoft.com/office/powerpoint/2010/main" val="3084848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dca586d38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bdca586d38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Next, we check if the selected node is closest to the current tree node, if so then we will add it to the tree.</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bdca586d38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bdca586d38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then we will move towards the random point with our selected step size.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bdca586d38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bdca586d38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which we will check if there is any collision.</a:t>
            </a:r>
            <a:endParaRPr/>
          </a:p>
          <a:p>
            <a:pPr marL="0" lvl="0" indent="0" algn="l" rtl="0">
              <a:spcBef>
                <a:spcPts val="0"/>
              </a:spcBef>
              <a:spcAft>
                <a:spcPts val="0"/>
              </a:spcAft>
              <a:buNone/>
            </a:pPr>
            <a:r>
              <a:rPr lang="en"/>
              <a:t>If no, then we will add it to the tree. Otherwise we will discard it.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bdca586d38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bdca586d38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And why does the algorithm works?</a:t>
            </a:r>
            <a:endParaRPr dirty="0"/>
          </a:p>
          <a:p>
            <a:pPr marL="0" lvl="0" indent="0" algn="l" rtl="0">
              <a:spcBef>
                <a:spcPts val="0"/>
              </a:spcBef>
              <a:spcAft>
                <a:spcPts val="0"/>
              </a:spcAft>
              <a:buNone/>
            </a:pPr>
            <a:r>
              <a:rPr lang="en" dirty="0"/>
              <a:t>Voronoi bias is a property in rapidly-exploring random trees (RRT) where, during search, the probability of selecting a node for expansion is proportional to the volume of its Voronoi region.</a:t>
            </a:r>
            <a:endParaRPr dirty="0"/>
          </a:p>
          <a:p>
            <a:pPr marL="0" lvl="0" indent="0" algn="l" rtl="0">
              <a:spcBef>
                <a:spcPts val="0"/>
              </a:spcBef>
              <a:spcAft>
                <a:spcPts val="0"/>
              </a:spcAft>
              <a:buNone/>
            </a:pPr>
            <a:r>
              <a:rPr lang="en" dirty="0"/>
              <a:t>That is, the bigger the target area, the higher the probability of having a tree solution.</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bdca586d38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bdca586d38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If we wanted to improve the quality of the solution, we could continue to grow the RRT after an initial solution is found, and keep the best solution, as we see in this figure.</a:t>
            </a:r>
            <a:endParaRPr dirty="0"/>
          </a:p>
          <a:p>
            <a:pPr marL="0" lvl="0" indent="0" algn="l" rtl="0">
              <a:spcBef>
                <a:spcPts val="0"/>
              </a:spcBef>
              <a:spcAft>
                <a:spcPts val="0"/>
              </a:spcAft>
              <a:buNone/>
            </a:pPr>
            <a:r>
              <a:rPr lang="en" dirty="0"/>
              <a:t>The path indicated is the best path found so far to the green goal region after generating 5000 nodes in the tree.</a:t>
            </a:r>
            <a:endParaRPr dirty="0"/>
          </a:p>
          <a:p>
            <a:pPr marL="0" lvl="0" indent="0" algn="l" rtl="0">
              <a:spcBef>
                <a:spcPts val="0"/>
              </a:spcBef>
              <a:spcAft>
                <a:spcPts val="0"/>
              </a:spcAft>
              <a:buNone/>
            </a:pPr>
            <a:r>
              <a:rPr lang="en" dirty="0"/>
              <a:t>This process does not result in solutions that tend to an optimal solution.</a:t>
            </a:r>
            <a:endParaRPr dirty="0"/>
          </a:p>
          <a:p>
            <a:pPr marL="0" lvl="0" indent="0" algn="l" rtl="0">
              <a:spcBef>
                <a:spcPts val="0"/>
              </a:spcBef>
              <a:spcAft>
                <a:spcPts val="0"/>
              </a:spcAft>
              <a:buNone/>
            </a:pPr>
            <a:r>
              <a:rPr lang="en" dirty="0">
                <a:solidFill>
                  <a:schemeClr val="dk1"/>
                </a:solidFill>
              </a:rPr>
              <a:t>However, a modification to the basic algorithm, called RRT-star, continually rewires the search tree so that the solution tends to the optimal solution as the number of nodes in the tree goes to infinity.</a:t>
            </a:r>
            <a:endParaRPr dirty="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bdca586d38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bdca586d38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And here’s a live visualization of the RRT Algorithm trying to reach the circle success region, with a small rectangle obstacle in between.</a:t>
            </a: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MY" sz="1100" b="0" i="0" u="none" strike="noStrike" cap="none" dirty="0">
                <a:solidFill>
                  <a:srgbClr val="000000"/>
                </a:solidFill>
                <a:effectLst/>
                <a:latin typeface="Arial"/>
                <a:ea typeface="Arial"/>
                <a:cs typeface="Arial"/>
                <a:sym typeface="Arial"/>
              </a:rPr>
              <a:t>When sampling the problem space, it is possible to sample elsewhere and it will waste a lot of computation cycles of the node sampling. It takes more iterations for the RRT to sample within the narrow passage.</a:t>
            </a:r>
          </a:p>
          <a:p>
            <a:pPr marL="158750" indent="0">
              <a:buNone/>
            </a:pPr>
            <a:endParaRPr lang="en-MY" sz="1100" b="0" i="0" u="none" strike="noStrike" cap="none" dirty="0">
              <a:solidFill>
                <a:srgbClr val="000000"/>
              </a:solidFill>
              <a:effectLst/>
              <a:latin typeface="Arial"/>
              <a:ea typeface="Arial"/>
              <a:cs typeface="Arial"/>
              <a:sym typeface="Arial"/>
            </a:endParaRPr>
          </a:p>
          <a:p>
            <a:pPr marL="158750" indent="0">
              <a:buNone/>
            </a:pPr>
            <a:endParaRPr lang="en-MY" sz="1100" b="0" i="0" u="none" strike="noStrike" cap="none" dirty="0">
              <a:solidFill>
                <a:srgbClr val="000000"/>
              </a:solidFill>
              <a:effectLst/>
              <a:latin typeface="Arial"/>
              <a:ea typeface="Arial"/>
              <a:cs typeface="Arial"/>
              <a:sym typeface="Arial"/>
            </a:endParaRPr>
          </a:p>
          <a:p>
            <a:pPr marL="158750" indent="0">
              <a:buNone/>
            </a:pPr>
            <a:r>
              <a:rPr lang="en-MY" sz="1100" b="0" i="0" u="none" strike="noStrike" cap="none" dirty="0">
                <a:solidFill>
                  <a:srgbClr val="000000"/>
                </a:solidFill>
                <a:effectLst/>
                <a:latin typeface="Arial"/>
                <a:ea typeface="Arial"/>
                <a:cs typeface="Arial"/>
                <a:sym typeface="Arial"/>
              </a:rPr>
              <a:t>CIT* addresses the limitations of uniform sampling in narrow passages by utilizing context-based biased batch sampling to focus exploration on critical, unexplored areas. The algorithm employs kernel density estimation (KDE) to calculate uncertainty for specific regions, naturally assigning higher sampling weights to constrained spaces like narrow gaps where valid samples are scarce. To further refine this process, connection-greedy prioritization (CGP) directs these samples toward regions that facilitate connectivity between the start and goal trees, ensuring efficient path discovery in highly restricted environments</a:t>
            </a:r>
            <a:endParaRPr lang="en-US" b="0" dirty="0"/>
          </a:p>
        </p:txBody>
      </p:sp>
    </p:spTree>
    <p:extLst>
      <p:ext uri="{BB962C8B-B14F-4D97-AF65-F5344CB8AC3E}">
        <p14:creationId xmlns:p14="http://schemas.microsoft.com/office/powerpoint/2010/main" val="1763233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I’m from chip design background so I am curious what is the hardware bottlenecks in the robotics application domain</a:t>
            </a:r>
          </a:p>
        </p:txBody>
      </p:sp>
    </p:spTree>
    <p:extLst>
      <p:ext uri="{BB962C8B-B14F-4D97-AF65-F5344CB8AC3E}">
        <p14:creationId xmlns:p14="http://schemas.microsoft.com/office/powerpoint/2010/main" val="1197088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solidFill>
                  <a:srgbClr val="1A2850"/>
                </a:solidFill>
              </a:rPr>
              <a:t>RRT Algorithm</a:t>
            </a:r>
            <a:endParaRPr b="1" dirty="0">
              <a:solidFill>
                <a:srgbClr val="1A2850"/>
              </a:solidFill>
            </a:endParaRPr>
          </a:p>
          <a:p>
            <a:pPr lvl="0"/>
            <a:r>
              <a:rPr lang="en" sz="3200" b="1" dirty="0">
                <a:solidFill>
                  <a:srgbClr val="263355"/>
                </a:solidFill>
              </a:rPr>
              <a:t>Rapidly Exploring Random Tree</a:t>
            </a:r>
            <a:endParaRPr sz="3200" b="1" dirty="0">
              <a:solidFill>
                <a:srgbClr val="1A2850"/>
              </a:solidFill>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solidFill>
                  <a:srgbClr val="263355"/>
                </a:solidFill>
              </a:rPr>
              <a:t>We are Team 2</a:t>
            </a:r>
            <a:endParaRPr>
              <a:solidFill>
                <a:srgbClr val="263355"/>
              </a:solidFill>
            </a:endParaRPr>
          </a:p>
          <a:p>
            <a:pPr marL="0" lvl="0" indent="0" algn="ctr" rtl="0">
              <a:spcBef>
                <a:spcPts val="0"/>
              </a:spcBef>
              <a:spcAft>
                <a:spcPts val="0"/>
              </a:spcAft>
              <a:buNone/>
            </a:pPr>
            <a:r>
              <a:rPr lang="en">
                <a:solidFill>
                  <a:srgbClr val="263355"/>
                </a:solidFill>
              </a:rPr>
              <a:t>Track 4: Robotic Motion Planning. </a:t>
            </a:r>
            <a:r>
              <a:rPr lang="en" b="1">
                <a:solidFill>
                  <a:srgbClr val="263355"/>
                </a:solidFill>
              </a:rPr>
              <a:t>How to move?</a:t>
            </a:r>
            <a:endParaRPr b="1">
              <a:solidFill>
                <a:srgbClr val="263355"/>
              </a:solidFill>
            </a:endParaRPr>
          </a:p>
        </p:txBody>
      </p:sp>
      <p:pic>
        <p:nvPicPr>
          <p:cNvPr id="56" name="Google Shape;56;p13" title="Blended Boston Dynamics (2).png"/>
          <p:cNvPicPr preferRelativeResize="0"/>
          <p:nvPr/>
        </p:nvPicPr>
        <p:blipFill>
          <a:blip r:embed="rId3">
            <a:alphaModFix/>
          </a:blip>
          <a:stretch>
            <a:fillRect/>
          </a:stretch>
        </p:blipFill>
        <p:spPr>
          <a:xfrm>
            <a:off x="-12" y="3238500"/>
            <a:ext cx="3190875" cy="1905000"/>
          </a:xfrm>
          <a:prstGeom prst="rect">
            <a:avLst/>
          </a:prstGeom>
          <a:noFill/>
          <a:ln>
            <a:noFill/>
          </a:ln>
        </p:spPr>
      </p:pic>
      <p:pic>
        <p:nvPicPr>
          <p:cNvPr id="3" name="Picture 2">
            <a:extLst>
              <a:ext uri="{FF2B5EF4-FFF2-40B4-BE49-F238E27FC236}">
                <a16:creationId xmlns:a16="http://schemas.microsoft.com/office/drawing/2014/main" id="{DF8C5904-B45D-309F-22ED-EAF86EDA756A}"/>
              </a:ext>
            </a:extLst>
          </p:cNvPr>
          <p:cNvPicPr>
            <a:picLocks noChangeAspect="1"/>
          </p:cNvPicPr>
          <p:nvPr/>
        </p:nvPicPr>
        <p:blipFill>
          <a:blip r:embed="rId4"/>
          <a:stretch>
            <a:fillRect/>
          </a:stretch>
        </p:blipFill>
        <p:spPr>
          <a:xfrm>
            <a:off x="-12" y="4120302"/>
            <a:ext cx="419100" cy="41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The Mission</a:t>
            </a:r>
            <a:endParaRPr/>
          </a:p>
          <a:p>
            <a:pPr marL="0" lvl="0" indent="0" algn="l" rtl="0">
              <a:spcBef>
                <a:spcPts val="0"/>
              </a:spcBef>
              <a:spcAft>
                <a:spcPts val="0"/>
              </a:spcAft>
              <a:buNone/>
            </a:pPr>
            <a:endParaRPr/>
          </a:p>
        </p:txBody>
      </p:sp>
      <p:sp>
        <p:nvSpPr>
          <p:cNvPr id="80" name="Google Shape;80;p16"/>
          <p:cNvSpPr txBox="1">
            <a:spLocks noGrp="1"/>
          </p:cNvSpPr>
          <p:nvPr>
            <p:ph type="body" idx="1"/>
          </p:nvPr>
        </p:nvSpPr>
        <p:spPr>
          <a:xfrm>
            <a:off x="311700" y="1152475"/>
            <a:ext cx="4338000" cy="3416400"/>
          </a:xfrm>
          <a:prstGeom prst="rect">
            <a:avLst/>
          </a:prstGeom>
        </p:spPr>
        <p:txBody>
          <a:bodyPr spcFirstLastPara="1" wrap="square" lIns="91425" tIns="91425" rIns="91425" bIns="91425" anchor="t" anchorCtr="0">
            <a:normAutofit/>
          </a:bodyPr>
          <a:lstStyle/>
          <a:p>
            <a:pPr marL="285750" indent="-285750"/>
            <a:r>
              <a:rPr lang="en-US" dirty="0">
                <a:solidFill>
                  <a:srgbClr val="1A2850"/>
                </a:solidFill>
              </a:rPr>
              <a:t>Navigate from </a:t>
            </a:r>
            <a:r>
              <a:rPr lang="en-US" dirty="0" err="1">
                <a:solidFill>
                  <a:srgbClr val="1A2850"/>
                </a:solidFill>
              </a:rPr>
              <a:t>X_start</a:t>
            </a:r>
            <a:r>
              <a:rPr lang="en-US" dirty="0">
                <a:solidFill>
                  <a:srgbClr val="1A2850"/>
                </a:solidFill>
              </a:rPr>
              <a:t> to </a:t>
            </a:r>
            <a:r>
              <a:rPr lang="en-US" dirty="0" err="1">
                <a:solidFill>
                  <a:srgbClr val="1A2850"/>
                </a:solidFill>
              </a:rPr>
              <a:t>X_goal</a:t>
            </a:r>
            <a:r>
              <a:rPr lang="en-US" dirty="0">
                <a:solidFill>
                  <a:srgbClr val="1A2850"/>
                </a:solidFill>
              </a:rPr>
              <a:t>.</a:t>
            </a:r>
          </a:p>
          <a:p>
            <a:pPr marL="285750" indent="-285750"/>
            <a:endParaRPr lang="en-US" dirty="0">
              <a:solidFill>
                <a:srgbClr val="1A2850"/>
              </a:solidFill>
            </a:endParaRPr>
          </a:p>
          <a:p>
            <a:pPr marL="285750" indent="-285750"/>
            <a:endParaRPr lang="en-US" dirty="0">
              <a:solidFill>
                <a:srgbClr val="1A2850"/>
              </a:solidFill>
            </a:endParaRPr>
          </a:p>
          <a:p>
            <a:pPr marL="285750" indent="-285750"/>
            <a:r>
              <a:rPr lang="en" dirty="0">
                <a:solidFill>
                  <a:srgbClr val="1A2850"/>
                </a:solidFill>
              </a:rPr>
              <a:t>Every so often the sample X_sample should be chosen inside of X_goal to try to complete the planning problem.</a:t>
            </a:r>
            <a:endParaRPr dirty="0">
              <a:solidFill>
                <a:srgbClr val="1A2850"/>
              </a:solidFill>
            </a:endParaRPr>
          </a:p>
          <a:p>
            <a:pPr marL="285750" indent="-285750">
              <a:spcBef>
                <a:spcPts val="1200"/>
              </a:spcBef>
              <a:spcAft>
                <a:spcPts val="1200"/>
              </a:spcAft>
            </a:pPr>
            <a:endParaRPr dirty="0"/>
          </a:p>
        </p:txBody>
      </p:sp>
      <p:pic>
        <p:nvPicPr>
          <p:cNvPr id="81" name="Google Shape;81;p16"/>
          <p:cNvPicPr preferRelativeResize="0"/>
          <p:nvPr/>
        </p:nvPicPr>
        <p:blipFill>
          <a:blip r:embed="rId3">
            <a:alphaModFix/>
          </a:blip>
          <a:stretch>
            <a:fillRect/>
          </a:stretch>
        </p:blipFill>
        <p:spPr>
          <a:xfrm>
            <a:off x="4856375" y="951561"/>
            <a:ext cx="3975925" cy="3076474"/>
          </a:xfrm>
          <a:prstGeom prst="rect">
            <a:avLst/>
          </a:prstGeom>
          <a:noFill/>
          <a:ln w="38100">
            <a:solidFill>
              <a:srgbClr val="FF0000"/>
            </a:solidFill>
          </a:ln>
        </p:spPr>
      </p:pic>
      <p:sp>
        <p:nvSpPr>
          <p:cNvPr id="2" name="Google Shape;80;p16">
            <a:extLst>
              <a:ext uri="{FF2B5EF4-FFF2-40B4-BE49-F238E27FC236}">
                <a16:creationId xmlns:a16="http://schemas.microsoft.com/office/drawing/2014/main" id="{2B8B73DE-2CAC-BDF1-095B-D6D55A1A18E2}"/>
              </a:ext>
            </a:extLst>
          </p:cNvPr>
          <p:cNvSpPr txBox="1">
            <a:spLocks/>
          </p:cNvSpPr>
          <p:nvPr/>
        </p:nvSpPr>
        <p:spPr>
          <a:xfrm>
            <a:off x="2862715" y="4272281"/>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92D75DB5-0048-12E1-7628-931F02FD9145}"/>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a:t>
            </a:r>
            <a:endParaRPr lang="en-MY" dirty="0"/>
          </a:p>
        </p:txBody>
      </p:sp>
      <p:sp>
        <p:nvSpPr>
          <p:cNvPr id="4" name="Oval 3">
            <a:extLst>
              <a:ext uri="{FF2B5EF4-FFF2-40B4-BE49-F238E27FC236}">
                <a16:creationId xmlns:a16="http://schemas.microsoft.com/office/drawing/2014/main" id="{DA056231-2013-D285-7B43-E98643D7456D}"/>
              </a:ext>
            </a:extLst>
          </p:cNvPr>
          <p:cNvSpPr/>
          <p:nvPr/>
        </p:nvSpPr>
        <p:spPr>
          <a:xfrm>
            <a:off x="4741817" y="1332411"/>
            <a:ext cx="1175657" cy="718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C1A7237-49B6-7912-43AF-617A6C6891F4}"/>
              </a:ext>
            </a:extLst>
          </p:cNvPr>
          <p:cNvSpPr/>
          <p:nvPr/>
        </p:nvSpPr>
        <p:spPr>
          <a:xfrm>
            <a:off x="7656643" y="3220768"/>
            <a:ext cx="1175657" cy="718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3A8AB97D-32FC-53AC-880F-D79A3BC2EC26}"/>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6F8CF252-1FF7-E1C3-9AD1-AC5EA99098AF}"/>
              </a:ext>
            </a:extLst>
          </p:cNvPr>
          <p:cNvSpPr txBox="1">
            <a:spLocks noGrp="1"/>
          </p:cNvSpPr>
          <p:nvPr>
            <p:ph type="title"/>
          </p:nvPr>
        </p:nvSpPr>
        <p:spPr>
          <a:xfrm>
            <a:off x="311700" y="47071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The Mission</a:t>
            </a:r>
            <a:endParaRPr/>
          </a:p>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016AE8DB-BCFD-4E87-85EB-806E7DCA306B}"/>
              </a:ext>
            </a:extLst>
          </p:cNvPr>
          <p:cNvSpPr txBox="1">
            <a:spLocks noGrp="1"/>
          </p:cNvSpPr>
          <p:nvPr>
            <p:ph type="body" idx="1"/>
          </p:nvPr>
        </p:nvSpPr>
        <p:spPr>
          <a:xfrm>
            <a:off x="311700" y="1152475"/>
            <a:ext cx="4338000" cy="3416400"/>
          </a:xfrm>
          <a:prstGeom prst="rect">
            <a:avLst/>
          </a:prstGeom>
        </p:spPr>
        <p:txBody>
          <a:bodyPr spcFirstLastPara="1" wrap="square" lIns="91425" tIns="91425" rIns="91425" bIns="91425" anchor="t" anchorCtr="0">
            <a:normAutofit/>
          </a:bodyPr>
          <a:lstStyle/>
          <a:p>
            <a:pPr marL="285750" indent="-285750"/>
            <a:r>
              <a:rPr lang="en-US" dirty="0">
                <a:solidFill>
                  <a:srgbClr val="1A2850"/>
                </a:solidFill>
              </a:rPr>
              <a:t>Navigate from </a:t>
            </a:r>
            <a:r>
              <a:rPr lang="en-US" dirty="0" err="1">
                <a:solidFill>
                  <a:srgbClr val="1A2850"/>
                </a:solidFill>
              </a:rPr>
              <a:t>X_start</a:t>
            </a:r>
            <a:r>
              <a:rPr lang="en-US" dirty="0">
                <a:solidFill>
                  <a:srgbClr val="1A2850"/>
                </a:solidFill>
              </a:rPr>
              <a:t> to </a:t>
            </a:r>
            <a:r>
              <a:rPr lang="en-US" dirty="0" err="1">
                <a:solidFill>
                  <a:srgbClr val="1A2850"/>
                </a:solidFill>
              </a:rPr>
              <a:t>X_goal</a:t>
            </a:r>
            <a:r>
              <a:rPr lang="en-US" dirty="0">
                <a:solidFill>
                  <a:srgbClr val="1A2850"/>
                </a:solidFill>
              </a:rPr>
              <a:t>.</a:t>
            </a:r>
          </a:p>
          <a:p>
            <a:pPr marL="285750" indent="-285750"/>
            <a:endParaRPr lang="en-US" dirty="0">
              <a:solidFill>
                <a:srgbClr val="1A2850"/>
              </a:solidFill>
            </a:endParaRPr>
          </a:p>
          <a:p>
            <a:pPr marL="285750" indent="-285750"/>
            <a:endParaRPr lang="en-US" dirty="0">
              <a:solidFill>
                <a:srgbClr val="1A2850"/>
              </a:solidFill>
            </a:endParaRPr>
          </a:p>
          <a:p>
            <a:pPr marL="285750" indent="-285750"/>
            <a:r>
              <a:rPr lang="en" dirty="0">
                <a:solidFill>
                  <a:srgbClr val="1A2850"/>
                </a:solidFill>
              </a:rPr>
              <a:t>Every so often the sample X_sample should be chosen inside of X_goal to try to complete the planning problem.</a:t>
            </a:r>
            <a:endParaRPr dirty="0">
              <a:solidFill>
                <a:srgbClr val="1A2850"/>
              </a:solidFill>
            </a:endParaRPr>
          </a:p>
          <a:p>
            <a:pPr marL="285750" indent="-285750">
              <a:spcBef>
                <a:spcPts val="1200"/>
              </a:spcBef>
              <a:spcAft>
                <a:spcPts val="1200"/>
              </a:spcAft>
            </a:pPr>
            <a:endParaRPr dirty="0"/>
          </a:p>
        </p:txBody>
      </p:sp>
      <p:pic>
        <p:nvPicPr>
          <p:cNvPr id="81" name="Google Shape;81;p16">
            <a:extLst>
              <a:ext uri="{FF2B5EF4-FFF2-40B4-BE49-F238E27FC236}">
                <a16:creationId xmlns:a16="http://schemas.microsoft.com/office/drawing/2014/main" id="{5063EB34-F168-8EC1-E02F-C4F08C4A896E}"/>
              </a:ext>
            </a:extLst>
          </p:cNvPr>
          <p:cNvPicPr preferRelativeResize="0"/>
          <p:nvPr/>
        </p:nvPicPr>
        <p:blipFill>
          <a:blip r:embed="rId3">
            <a:alphaModFix/>
          </a:blip>
          <a:stretch>
            <a:fillRect/>
          </a:stretch>
        </p:blipFill>
        <p:spPr>
          <a:xfrm>
            <a:off x="4856375" y="951561"/>
            <a:ext cx="3975925" cy="3076474"/>
          </a:xfrm>
          <a:prstGeom prst="rect">
            <a:avLst/>
          </a:prstGeom>
          <a:noFill/>
          <a:ln w="38100">
            <a:noFill/>
          </a:ln>
        </p:spPr>
      </p:pic>
      <p:sp>
        <p:nvSpPr>
          <p:cNvPr id="2" name="Google Shape;80;p16">
            <a:extLst>
              <a:ext uri="{FF2B5EF4-FFF2-40B4-BE49-F238E27FC236}">
                <a16:creationId xmlns:a16="http://schemas.microsoft.com/office/drawing/2014/main" id="{12D02DA1-DA74-25F3-5E50-AD4FAADA9AC6}"/>
              </a:ext>
            </a:extLst>
          </p:cNvPr>
          <p:cNvSpPr txBox="1">
            <a:spLocks/>
          </p:cNvSpPr>
          <p:nvPr/>
        </p:nvSpPr>
        <p:spPr>
          <a:xfrm>
            <a:off x="2862715" y="4272281"/>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7DEDAC42-07D9-5901-A9DE-2F615464A3B9}"/>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a:t>
            </a:r>
            <a:endParaRPr lang="en-MY" dirty="0"/>
          </a:p>
        </p:txBody>
      </p:sp>
      <p:sp>
        <p:nvSpPr>
          <p:cNvPr id="5" name="Oval 4">
            <a:extLst>
              <a:ext uri="{FF2B5EF4-FFF2-40B4-BE49-F238E27FC236}">
                <a16:creationId xmlns:a16="http://schemas.microsoft.com/office/drawing/2014/main" id="{C45A25AC-B450-81C0-8C76-D5D8983C5C3A}"/>
              </a:ext>
            </a:extLst>
          </p:cNvPr>
          <p:cNvSpPr/>
          <p:nvPr/>
        </p:nvSpPr>
        <p:spPr>
          <a:xfrm>
            <a:off x="6596143" y="1165538"/>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089682-01E0-99E8-F162-D484991CDFD0}"/>
              </a:ext>
            </a:extLst>
          </p:cNvPr>
          <p:cNvCxnSpPr>
            <a:cxnSpLocks/>
          </p:cNvCxnSpPr>
          <p:nvPr/>
        </p:nvCxnSpPr>
        <p:spPr>
          <a:xfrm flipV="1">
            <a:off x="5894363" y="1364389"/>
            <a:ext cx="720851" cy="31132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2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C3D529C7-7E7D-6B74-1E04-3082EF467BE0}"/>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5B10E5C2-FBAB-5E8E-12C2-C35E2AD5F46E}"/>
              </a:ext>
            </a:extLst>
          </p:cNvPr>
          <p:cNvSpPr txBox="1">
            <a:spLocks noGrp="1"/>
          </p:cNvSpPr>
          <p:nvPr>
            <p:ph type="title"/>
          </p:nvPr>
        </p:nvSpPr>
        <p:spPr>
          <a:xfrm>
            <a:off x="311700" y="47071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The Mission</a:t>
            </a:r>
            <a:endParaRPr/>
          </a:p>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D7EB90B2-E204-A1D1-FC19-5BD9C78312E9}"/>
              </a:ext>
            </a:extLst>
          </p:cNvPr>
          <p:cNvSpPr txBox="1">
            <a:spLocks noGrp="1"/>
          </p:cNvSpPr>
          <p:nvPr>
            <p:ph type="body" idx="1"/>
          </p:nvPr>
        </p:nvSpPr>
        <p:spPr>
          <a:xfrm>
            <a:off x="311700" y="1152475"/>
            <a:ext cx="4338000" cy="3416400"/>
          </a:xfrm>
          <a:prstGeom prst="rect">
            <a:avLst/>
          </a:prstGeom>
        </p:spPr>
        <p:txBody>
          <a:bodyPr spcFirstLastPara="1" wrap="square" lIns="91425" tIns="91425" rIns="91425" bIns="91425" anchor="t" anchorCtr="0">
            <a:normAutofit/>
          </a:bodyPr>
          <a:lstStyle/>
          <a:p>
            <a:pPr marL="285750" indent="-285750"/>
            <a:r>
              <a:rPr lang="en-US" dirty="0">
                <a:solidFill>
                  <a:srgbClr val="1A2850"/>
                </a:solidFill>
              </a:rPr>
              <a:t>Navigate from </a:t>
            </a:r>
            <a:r>
              <a:rPr lang="en-US" dirty="0" err="1">
                <a:solidFill>
                  <a:srgbClr val="1A2850"/>
                </a:solidFill>
              </a:rPr>
              <a:t>X_start</a:t>
            </a:r>
            <a:r>
              <a:rPr lang="en-US" dirty="0">
                <a:solidFill>
                  <a:srgbClr val="1A2850"/>
                </a:solidFill>
              </a:rPr>
              <a:t> to </a:t>
            </a:r>
            <a:r>
              <a:rPr lang="en-US" dirty="0" err="1">
                <a:solidFill>
                  <a:srgbClr val="1A2850"/>
                </a:solidFill>
              </a:rPr>
              <a:t>X_goal</a:t>
            </a:r>
            <a:r>
              <a:rPr lang="en-US" dirty="0">
                <a:solidFill>
                  <a:srgbClr val="1A2850"/>
                </a:solidFill>
              </a:rPr>
              <a:t>.</a:t>
            </a:r>
          </a:p>
          <a:p>
            <a:pPr marL="285750" indent="-285750"/>
            <a:endParaRPr lang="en-US" dirty="0">
              <a:solidFill>
                <a:srgbClr val="1A2850"/>
              </a:solidFill>
            </a:endParaRPr>
          </a:p>
          <a:p>
            <a:pPr marL="285750" indent="-285750"/>
            <a:endParaRPr lang="en-US" dirty="0">
              <a:solidFill>
                <a:srgbClr val="1A2850"/>
              </a:solidFill>
            </a:endParaRPr>
          </a:p>
          <a:p>
            <a:pPr marL="285750" indent="-285750"/>
            <a:r>
              <a:rPr lang="en" dirty="0">
                <a:solidFill>
                  <a:srgbClr val="1A2850"/>
                </a:solidFill>
              </a:rPr>
              <a:t>Every so often the sample X_sample should be chosen inside of X_goal to try to complete the planning problem.</a:t>
            </a:r>
            <a:endParaRPr dirty="0">
              <a:solidFill>
                <a:srgbClr val="1A2850"/>
              </a:solidFill>
            </a:endParaRPr>
          </a:p>
          <a:p>
            <a:pPr marL="285750" indent="-285750">
              <a:spcBef>
                <a:spcPts val="1200"/>
              </a:spcBef>
              <a:spcAft>
                <a:spcPts val="1200"/>
              </a:spcAft>
            </a:pPr>
            <a:endParaRPr dirty="0"/>
          </a:p>
        </p:txBody>
      </p:sp>
      <p:pic>
        <p:nvPicPr>
          <p:cNvPr id="81" name="Google Shape;81;p16">
            <a:extLst>
              <a:ext uri="{FF2B5EF4-FFF2-40B4-BE49-F238E27FC236}">
                <a16:creationId xmlns:a16="http://schemas.microsoft.com/office/drawing/2014/main" id="{470A6FE8-6C8F-0214-A24A-43B299D32D68}"/>
              </a:ext>
            </a:extLst>
          </p:cNvPr>
          <p:cNvPicPr preferRelativeResize="0"/>
          <p:nvPr/>
        </p:nvPicPr>
        <p:blipFill>
          <a:blip r:embed="rId3">
            <a:alphaModFix/>
          </a:blip>
          <a:stretch>
            <a:fillRect/>
          </a:stretch>
        </p:blipFill>
        <p:spPr>
          <a:xfrm>
            <a:off x="4856375" y="951561"/>
            <a:ext cx="3975925" cy="3076474"/>
          </a:xfrm>
          <a:prstGeom prst="rect">
            <a:avLst/>
          </a:prstGeom>
          <a:noFill/>
          <a:ln w="38100">
            <a:noFill/>
          </a:ln>
        </p:spPr>
      </p:pic>
      <p:sp>
        <p:nvSpPr>
          <p:cNvPr id="2" name="Google Shape;80;p16">
            <a:extLst>
              <a:ext uri="{FF2B5EF4-FFF2-40B4-BE49-F238E27FC236}">
                <a16:creationId xmlns:a16="http://schemas.microsoft.com/office/drawing/2014/main" id="{3D72D1F7-EB26-3CB0-3DCF-B1845667996D}"/>
              </a:ext>
            </a:extLst>
          </p:cNvPr>
          <p:cNvSpPr txBox="1">
            <a:spLocks/>
          </p:cNvSpPr>
          <p:nvPr/>
        </p:nvSpPr>
        <p:spPr>
          <a:xfrm>
            <a:off x="2862715" y="4272281"/>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AB022A6B-EEED-E495-0128-5DF64A89A9D8}"/>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a:t>
            </a:r>
            <a:endParaRPr lang="en-MY" dirty="0"/>
          </a:p>
        </p:txBody>
      </p:sp>
      <p:sp>
        <p:nvSpPr>
          <p:cNvPr id="5" name="Oval 4">
            <a:extLst>
              <a:ext uri="{FF2B5EF4-FFF2-40B4-BE49-F238E27FC236}">
                <a16:creationId xmlns:a16="http://schemas.microsoft.com/office/drawing/2014/main" id="{A6D0A5A3-E45E-1DD3-8507-9A3D2B3FA1E8}"/>
              </a:ext>
            </a:extLst>
          </p:cNvPr>
          <p:cNvSpPr/>
          <p:nvPr/>
        </p:nvSpPr>
        <p:spPr>
          <a:xfrm>
            <a:off x="6596143" y="1165538"/>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4FB9FE6-1F22-CEB5-3385-068FF40BC02C}"/>
              </a:ext>
            </a:extLst>
          </p:cNvPr>
          <p:cNvCxnSpPr>
            <a:cxnSpLocks/>
          </p:cNvCxnSpPr>
          <p:nvPr/>
        </p:nvCxnSpPr>
        <p:spPr>
          <a:xfrm flipV="1">
            <a:off x="5894363" y="1364389"/>
            <a:ext cx="720851" cy="31132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7550A73D-F6D4-9779-89DB-20FFB695F389}"/>
              </a:ext>
            </a:extLst>
          </p:cNvPr>
          <p:cNvSpPr/>
          <p:nvPr/>
        </p:nvSpPr>
        <p:spPr>
          <a:xfrm>
            <a:off x="6300014" y="1996690"/>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D353E9E4-8A91-AABD-CE12-D5DABFDC1CEC}"/>
              </a:ext>
            </a:extLst>
          </p:cNvPr>
          <p:cNvCxnSpPr>
            <a:cxnSpLocks/>
            <a:endCxn id="4" idx="1"/>
          </p:cNvCxnSpPr>
          <p:nvPr/>
        </p:nvCxnSpPr>
        <p:spPr>
          <a:xfrm>
            <a:off x="5890037" y="1713552"/>
            <a:ext cx="450150" cy="32208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916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6206877F-E25B-62A4-0CB7-66568171AACB}"/>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B3A5C9CB-0874-097A-055A-BE1449ED63C5}"/>
              </a:ext>
            </a:extLst>
          </p:cNvPr>
          <p:cNvSpPr txBox="1">
            <a:spLocks noGrp="1"/>
          </p:cNvSpPr>
          <p:nvPr>
            <p:ph type="title"/>
          </p:nvPr>
        </p:nvSpPr>
        <p:spPr>
          <a:xfrm>
            <a:off x="311700" y="47071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The Mission</a:t>
            </a:r>
            <a:endParaRPr/>
          </a:p>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7381685E-BD76-100A-077E-77ED35E18541}"/>
              </a:ext>
            </a:extLst>
          </p:cNvPr>
          <p:cNvSpPr txBox="1">
            <a:spLocks noGrp="1"/>
          </p:cNvSpPr>
          <p:nvPr>
            <p:ph type="body" idx="1"/>
          </p:nvPr>
        </p:nvSpPr>
        <p:spPr>
          <a:xfrm>
            <a:off x="311700" y="1152475"/>
            <a:ext cx="4338000" cy="3416400"/>
          </a:xfrm>
          <a:prstGeom prst="rect">
            <a:avLst/>
          </a:prstGeom>
        </p:spPr>
        <p:txBody>
          <a:bodyPr spcFirstLastPara="1" wrap="square" lIns="91425" tIns="91425" rIns="91425" bIns="91425" anchor="t" anchorCtr="0">
            <a:normAutofit/>
          </a:bodyPr>
          <a:lstStyle/>
          <a:p>
            <a:pPr marL="285750" indent="-285750"/>
            <a:r>
              <a:rPr lang="en-US" dirty="0">
                <a:solidFill>
                  <a:srgbClr val="1A2850"/>
                </a:solidFill>
              </a:rPr>
              <a:t>Navigate from </a:t>
            </a:r>
            <a:r>
              <a:rPr lang="en-US" dirty="0" err="1">
                <a:solidFill>
                  <a:srgbClr val="1A2850"/>
                </a:solidFill>
              </a:rPr>
              <a:t>X_start</a:t>
            </a:r>
            <a:r>
              <a:rPr lang="en-US" dirty="0">
                <a:solidFill>
                  <a:srgbClr val="1A2850"/>
                </a:solidFill>
              </a:rPr>
              <a:t> to </a:t>
            </a:r>
            <a:r>
              <a:rPr lang="en-US" dirty="0" err="1">
                <a:solidFill>
                  <a:srgbClr val="1A2850"/>
                </a:solidFill>
              </a:rPr>
              <a:t>X_goal</a:t>
            </a:r>
            <a:r>
              <a:rPr lang="en-US" dirty="0">
                <a:solidFill>
                  <a:srgbClr val="1A2850"/>
                </a:solidFill>
              </a:rPr>
              <a:t>.</a:t>
            </a:r>
          </a:p>
          <a:p>
            <a:pPr marL="285750" indent="-285750"/>
            <a:endParaRPr lang="en-US" dirty="0">
              <a:solidFill>
                <a:srgbClr val="1A2850"/>
              </a:solidFill>
            </a:endParaRPr>
          </a:p>
          <a:p>
            <a:pPr marL="285750" indent="-285750"/>
            <a:endParaRPr lang="en-US" dirty="0">
              <a:solidFill>
                <a:srgbClr val="1A2850"/>
              </a:solidFill>
            </a:endParaRPr>
          </a:p>
          <a:p>
            <a:pPr marL="285750" indent="-285750"/>
            <a:r>
              <a:rPr lang="en" dirty="0">
                <a:solidFill>
                  <a:srgbClr val="1A2850"/>
                </a:solidFill>
              </a:rPr>
              <a:t>Every so often the sample X_sample should be chosen inside of X_goal to try to complete the planning problem.</a:t>
            </a:r>
            <a:endParaRPr dirty="0">
              <a:solidFill>
                <a:srgbClr val="1A2850"/>
              </a:solidFill>
            </a:endParaRPr>
          </a:p>
          <a:p>
            <a:pPr marL="285750" indent="-285750">
              <a:spcBef>
                <a:spcPts val="1200"/>
              </a:spcBef>
              <a:spcAft>
                <a:spcPts val="1200"/>
              </a:spcAft>
            </a:pPr>
            <a:endParaRPr dirty="0"/>
          </a:p>
        </p:txBody>
      </p:sp>
      <p:pic>
        <p:nvPicPr>
          <p:cNvPr id="81" name="Google Shape;81;p16">
            <a:extLst>
              <a:ext uri="{FF2B5EF4-FFF2-40B4-BE49-F238E27FC236}">
                <a16:creationId xmlns:a16="http://schemas.microsoft.com/office/drawing/2014/main" id="{9F98E206-9433-FDBF-7E58-604DA66B9EFF}"/>
              </a:ext>
            </a:extLst>
          </p:cNvPr>
          <p:cNvPicPr preferRelativeResize="0"/>
          <p:nvPr/>
        </p:nvPicPr>
        <p:blipFill>
          <a:blip r:embed="rId3">
            <a:alphaModFix/>
          </a:blip>
          <a:stretch>
            <a:fillRect/>
          </a:stretch>
        </p:blipFill>
        <p:spPr>
          <a:xfrm>
            <a:off x="4856375" y="951561"/>
            <a:ext cx="3975925" cy="3076474"/>
          </a:xfrm>
          <a:prstGeom prst="rect">
            <a:avLst/>
          </a:prstGeom>
          <a:noFill/>
          <a:ln w="38100">
            <a:noFill/>
          </a:ln>
        </p:spPr>
      </p:pic>
      <p:sp>
        <p:nvSpPr>
          <p:cNvPr id="2" name="Google Shape;80;p16">
            <a:extLst>
              <a:ext uri="{FF2B5EF4-FFF2-40B4-BE49-F238E27FC236}">
                <a16:creationId xmlns:a16="http://schemas.microsoft.com/office/drawing/2014/main" id="{0B655B47-65E2-52F2-D693-12A7A71043EA}"/>
              </a:ext>
            </a:extLst>
          </p:cNvPr>
          <p:cNvSpPr txBox="1">
            <a:spLocks/>
          </p:cNvSpPr>
          <p:nvPr/>
        </p:nvSpPr>
        <p:spPr>
          <a:xfrm>
            <a:off x="2862715" y="4272281"/>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B8E192EC-98F0-F487-8E73-98E61174C6CD}"/>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a:t>
            </a:r>
            <a:endParaRPr lang="en-MY" dirty="0"/>
          </a:p>
        </p:txBody>
      </p:sp>
      <p:sp>
        <p:nvSpPr>
          <p:cNvPr id="5" name="Oval 4">
            <a:extLst>
              <a:ext uri="{FF2B5EF4-FFF2-40B4-BE49-F238E27FC236}">
                <a16:creationId xmlns:a16="http://schemas.microsoft.com/office/drawing/2014/main" id="{0CDF637F-0563-29E1-D751-CA11072178FE}"/>
              </a:ext>
            </a:extLst>
          </p:cNvPr>
          <p:cNvSpPr/>
          <p:nvPr/>
        </p:nvSpPr>
        <p:spPr>
          <a:xfrm>
            <a:off x="6596143" y="1165538"/>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FBF95BB-79B2-4988-1A52-4FAB5EA39CC5}"/>
              </a:ext>
            </a:extLst>
          </p:cNvPr>
          <p:cNvCxnSpPr>
            <a:cxnSpLocks/>
          </p:cNvCxnSpPr>
          <p:nvPr/>
        </p:nvCxnSpPr>
        <p:spPr>
          <a:xfrm flipV="1">
            <a:off x="5894363" y="1364389"/>
            <a:ext cx="720851" cy="31132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0B48BFFB-5F2F-2053-72A3-3B652430C8FF}"/>
              </a:ext>
            </a:extLst>
          </p:cNvPr>
          <p:cNvSpPr/>
          <p:nvPr/>
        </p:nvSpPr>
        <p:spPr>
          <a:xfrm>
            <a:off x="6300014" y="1996690"/>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AC3A7DD-ACDF-91EE-65C4-18B8FC492BB5}"/>
              </a:ext>
            </a:extLst>
          </p:cNvPr>
          <p:cNvCxnSpPr>
            <a:cxnSpLocks/>
            <a:endCxn id="4" idx="1"/>
          </p:cNvCxnSpPr>
          <p:nvPr/>
        </p:nvCxnSpPr>
        <p:spPr>
          <a:xfrm>
            <a:off x="5890037" y="1713552"/>
            <a:ext cx="450150" cy="32208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491CA8C-5CCE-0D79-8FAF-A2C1A88CB1C4}"/>
              </a:ext>
            </a:extLst>
          </p:cNvPr>
          <p:cNvSpPr/>
          <p:nvPr/>
        </p:nvSpPr>
        <p:spPr>
          <a:xfrm>
            <a:off x="6959574" y="1902669"/>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6F1E9EC-5489-DAE6-32F5-9E4A87EDADB1}"/>
              </a:ext>
            </a:extLst>
          </p:cNvPr>
          <p:cNvCxnSpPr>
            <a:cxnSpLocks/>
            <a:stCxn id="4" idx="6"/>
            <a:endCxn id="11" idx="6"/>
          </p:cNvCxnSpPr>
          <p:nvPr/>
        </p:nvCxnSpPr>
        <p:spPr>
          <a:xfrm flipV="1">
            <a:off x="6574334" y="2035635"/>
            <a:ext cx="659560" cy="9402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98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E7B61D3F-F1CF-B81D-8BA7-B135054F34C0}"/>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6C311CF1-E58A-5D17-E289-0FAF3A896144}"/>
              </a:ext>
            </a:extLst>
          </p:cNvPr>
          <p:cNvSpPr txBox="1">
            <a:spLocks noGrp="1"/>
          </p:cNvSpPr>
          <p:nvPr>
            <p:ph type="title"/>
          </p:nvPr>
        </p:nvSpPr>
        <p:spPr>
          <a:xfrm>
            <a:off x="311700" y="47071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The Mission</a:t>
            </a:r>
            <a:endParaRPr/>
          </a:p>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DA253A9A-FD82-7CEA-1D46-C26D0BED0402}"/>
              </a:ext>
            </a:extLst>
          </p:cNvPr>
          <p:cNvSpPr txBox="1">
            <a:spLocks noGrp="1"/>
          </p:cNvSpPr>
          <p:nvPr>
            <p:ph type="body" idx="1"/>
          </p:nvPr>
        </p:nvSpPr>
        <p:spPr>
          <a:xfrm>
            <a:off x="311700" y="1152475"/>
            <a:ext cx="4338000" cy="3416400"/>
          </a:xfrm>
          <a:prstGeom prst="rect">
            <a:avLst/>
          </a:prstGeom>
        </p:spPr>
        <p:txBody>
          <a:bodyPr spcFirstLastPara="1" wrap="square" lIns="91425" tIns="91425" rIns="91425" bIns="91425" anchor="t" anchorCtr="0">
            <a:normAutofit/>
          </a:bodyPr>
          <a:lstStyle/>
          <a:p>
            <a:pPr marL="285750" indent="-285750"/>
            <a:r>
              <a:rPr lang="en-US" dirty="0">
                <a:solidFill>
                  <a:srgbClr val="1A2850"/>
                </a:solidFill>
              </a:rPr>
              <a:t>Navigate from </a:t>
            </a:r>
            <a:r>
              <a:rPr lang="en-US" dirty="0" err="1">
                <a:solidFill>
                  <a:srgbClr val="1A2850"/>
                </a:solidFill>
              </a:rPr>
              <a:t>X_start</a:t>
            </a:r>
            <a:r>
              <a:rPr lang="en-US" dirty="0">
                <a:solidFill>
                  <a:srgbClr val="1A2850"/>
                </a:solidFill>
              </a:rPr>
              <a:t> to </a:t>
            </a:r>
            <a:r>
              <a:rPr lang="en-US" dirty="0" err="1">
                <a:solidFill>
                  <a:srgbClr val="1A2850"/>
                </a:solidFill>
              </a:rPr>
              <a:t>X_goal</a:t>
            </a:r>
            <a:r>
              <a:rPr lang="en-US" dirty="0">
                <a:solidFill>
                  <a:srgbClr val="1A2850"/>
                </a:solidFill>
              </a:rPr>
              <a:t>.</a:t>
            </a:r>
          </a:p>
          <a:p>
            <a:pPr marL="285750" indent="-285750"/>
            <a:endParaRPr lang="en-US" dirty="0">
              <a:solidFill>
                <a:srgbClr val="1A2850"/>
              </a:solidFill>
            </a:endParaRPr>
          </a:p>
          <a:p>
            <a:pPr marL="285750" indent="-285750"/>
            <a:endParaRPr lang="en-US" dirty="0">
              <a:solidFill>
                <a:srgbClr val="1A2850"/>
              </a:solidFill>
            </a:endParaRPr>
          </a:p>
          <a:p>
            <a:pPr marL="285750" indent="-285750"/>
            <a:r>
              <a:rPr lang="en" dirty="0">
                <a:solidFill>
                  <a:srgbClr val="1A2850"/>
                </a:solidFill>
              </a:rPr>
              <a:t>Every so often the sample X_sample should be chosen inside of X_goal to try to complete the planning problem.</a:t>
            </a:r>
            <a:endParaRPr dirty="0">
              <a:solidFill>
                <a:srgbClr val="1A2850"/>
              </a:solidFill>
            </a:endParaRPr>
          </a:p>
          <a:p>
            <a:pPr marL="285750" indent="-285750">
              <a:spcBef>
                <a:spcPts val="1200"/>
              </a:spcBef>
              <a:spcAft>
                <a:spcPts val="1200"/>
              </a:spcAft>
            </a:pPr>
            <a:endParaRPr dirty="0"/>
          </a:p>
        </p:txBody>
      </p:sp>
      <p:pic>
        <p:nvPicPr>
          <p:cNvPr id="81" name="Google Shape;81;p16">
            <a:extLst>
              <a:ext uri="{FF2B5EF4-FFF2-40B4-BE49-F238E27FC236}">
                <a16:creationId xmlns:a16="http://schemas.microsoft.com/office/drawing/2014/main" id="{E41CD91D-A411-5B6F-D893-C45DE96BDF47}"/>
              </a:ext>
            </a:extLst>
          </p:cNvPr>
          <p:cNvPicPr preferRelativeResize="0"/>
          <p:nvPr/>
        </p:nvPicPr>
        <p:blipFill>
          <a:blip r:embed="rId3">
            <a:alphaModFix/>
          </a:blip>
          <a:stretch>
            <a:fillRect/>
          </a:stretch>
        </p:blipFill>
        <p:spPr>
          <a:xfrm>
            <a:off x="4856375" y="951561"/>
            <a:ext cx="3975925" cy="3076474"/>
          </a:xfrm>
          <a:prstGeom prst="rect">
            <a:avLst/>
          </a:prstGeom>
          <a:noFill/>
          <a:ln w="38100">
            <a:noFill/>
          </a:ln>
        </p:spPr>
      </p:pic>
      <p:sp>
        <p:nvSpPr>
          <p:cNvPr id="2" name="Google Shape;80;p16">
            <a:extLst>
              <a:ext uri="{FF2B5EF4-FFF2-40B4-BE49-F238E27FC236}">
                <a16:creationId xmlns:a16="http://schemas.microsoft.com/office/drawing/2014/main" id="{B9F547E9-BDB0-DEA4-5473-140FF3D6F34B}"/>
              </a:ext>
            </a:extLst>
          </p:cNvPr>
          <p:cNvSpPr txBox="1">
            <a:spLocks/>
          </p:cNvSpPr>
          <p:nvPr/>
        </p:nvSpPr>
        <p:spPr>
          <a:xfrm>
            <a:off x="2862715" y="4272281"/>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8D40170F-15B7-4E83-EB0F-D98519B532FF}"/>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a:t>
            </a:r>
            <a:endParaRPr lang="en-MY" dirty="0"/>
          </a:p>
        </p:txBody>
      </p:sp>
      <p:sp>
        <p:nvSpPr>
          <p:cNvPr id="5" name="Oval 4">
            <a:extLst>
              <a:ext uri="{FF2B5EF4-FFF2-40B4-BE49-F238E27FC236}">
                <a16:creationId xmlns:a16="http://schemas.microsoft.com/office/drawing/2014/main" id="{3BCBF24B-8708-1BC1-6C0A-AF8DB02F8096}"/>
              </a:ext>
            </a:extLst>
          </p:cNvPr>
          <p:cNvSpPr/>
          <p:nvPr/>
        </p:nvSpPr>
        <p:spPr>
          <a:xfrm>
            <a:off x="6596143" y="1165538"/>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3FE604C-DE49-675D-9DD4-08B99DB1E58C}"/>
              </a:ext>
            </a:extLst>
          </p:cNvPr>
          <p:cNvCxnSpPr>
            <a:cxnSpLocks/>
          </p:cNvCxnSpPr>
          <p:nvPr/>
        </p:nvCxnSpPr>
        <p:spPr>
          <a:xfrm flipV="1">
            <a:off x="5894363" y="1364389"/>
            <a:ext cx="720851" cy="31132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7B77F79A-11F9-C3EF-0215-4E326032B6F3}"/>
              </a:ext>
            </a:extLst>
          </p:cNvPr>
          <p:cNvSpPr/>
          <p:nvPr/>
        </p:nvSpPr>
        <p:spPr>
          <a:xfrm>
            <a:off x="6300014" y="1996690"/>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D8AE536A-B514-2450-1EE5-C58317B20072}"/>
              </a:ext>
            </a:extLst>
          </p:cNvPr>
          <p:cNvCxnSpPr>
            <a:cxnSpLocks/>
            <a:endCxn id="4" idx="1"/>
          </p:cNvCxnSpPr>
          <p:nvPr/>
        </p:nvCxnSpPr>
        <p:spPr>
          <a:xfrm>
            <a:off x="5890037" y="1713552"/>
            <a:ext cx="450150" cy="32208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D2D0AFF-9EF2-3784-C6E2-FDD672AB1BF4}"/>
              </a:ext>
            </a:extLst>
          </p:cNvPr>
          <p:cNvSpPr/>
          <p:nvPr/>
        </p:nvSpPr>
        <p:spPr>
          <a:xfrm>
            <a:off x="6959574" y="1902669"/>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249C954-0822-71C9-6198-A3E0CF19819B}"/>
              </a:ext>
            </a:extLst>
          </p:cNvPr>
          <p:cNvCxnSpPr>
            <a:cxnSpLocks/>
            <a:stCxn id="4" idx="6"/>
            <a:endCxn id="11" idx="6"/>
          </p:cNvCxnSpPr>
          <p:nvPr/>
        </p:nvCxnSpPr>
        <p:spPr>
          <a:xfrm flipV="1">
            <a:off x="6574334" y="2035635"/>
            <a:ext cx="659560" cy="9402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BE49BEF-6DAC-06B4-FBFF-940F0A078DC0}"/>
              </a:ext>
            </a:extLst>
          </p:cNvPr>
          <p:cNvCxnSpPr>
            <a:cxnSpLocks/>
          </p:cNvCxnSpPr>
          <p:nvPr/>
        </p:nvCxnSpPr>
        <p:spPr>
          <a:xfrm>
            <a:off x="7193721" y="2080418"/>
            <a:ext cx="1120285" cy="2468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EC6559D3-6F6D-3527-871F-DF6078ED6AFA}"/>
              </a:ext>
            </a:extLst>
          </p:cNvPr>
          <p:cNvSpPr/>
          <p:nvPr/>
        </p:nvSpPr>
        <p:spPr>
          <a:xfrm>
            <a:off x="8224649" y="2223866"/>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9602619-224B-26D1-2C4D-D501A374D94B}"/>
              </a:ext>
            </a:extLst>
          </p:cNvPr>
          <p:cNvSpPr/>
          <p:nvPr/>
        </p:nvSpPr>
        <p:spPr>
          <a:xfrm>
            <a:off x="7960463" y="2963468"/>
            <a:ext cx="274320" cy="26593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48DF842-A527-65E9-F1D2-2DBF6D4B3E64}"/>
              </a:ext>
            </a:extLst>
          </p:cNvPr>
          <p:cNvCxnSpPr>
            <a:cxnSpLocks/>
            <a:stCxn id="16" idx="4"/>
          </p:cNvCxnSpPr>
          <p:nvPr/>
        </p:nvCxnSpPr>
        <p:spPr>
          <a:xfrm flipV="1">
            <a:off x="8097623" y="2355614"/>
            <a:ext cx="264186" cy="8737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4006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rgbClr val="263355"/>
                </a:solidFill>
              </a:rPr>
              <a:t>Rapidly Exploring Random Tree (RRT) Algorithm</a:t>
            </a:r>
            <a:endParaRPr b="1" dirty="0">
              <a:solidFill>
                <a:srgbClr val="263355"/>
              </a:solidFill>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The RRT is a sampling-based motion planner that applies to robots with arbitrary dynamics of the form:</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Where,</a:t>
            </a:r>
            <a:endParaRPr dirty="0"/>
          </a:p>
          <a:p>
            <a:pPr marL="457200" lvl="0" indent="-342900" algn="l" rtl="0">
              <a:spcBef>
                <a:spcPts val="1200"/>
              </a:spcBef>
              <a:spcAft>
                <a:spcPts val="0"/>
              </a:spcAft>
              <a:buSzPts val="1800"/>
              <a:buChar char="-"/>
            </a:pPr>
            <a:r>
              <a:rPr lang="en" dirty="0"/>
              <a:t>x(t) : State vector at time t</a:t>
            </a:r>
            <a:endParaRPr dirty="0"/>
          </a:p>
          <a:p>
            <a:pPr marL="457200" lvl="0" indent="-342900" algn="l" rtl="0">
              <a:spcBef>
                <a:spcPts val="0"/>
              </a:spcBef>
              <a:spcAft>
                <a:spcPts val="0"/>
              </a:spcAft>
              <a:buSzPts val="1800"/>
              <a:buChar char="-"/>
            </a:pPr>
            <a:r>
              <a:rPr lang="en" dirty="0"/>
              <a:t>Ẋ(t) : Tme derivative of the state.</a:t>
            </a:r>
            <a:endParaRPr dirty="0"/>
          </a:p>
          <a:p>
            <a:pPr marL="457200" lvl="0" indent="-342900" algn="l" rtl="0">
              <a:spcBef>
                <a:spcPts val="0"/>
              </a:spcBef>
              <a:spcAft>
                <a:spcPts val="0"/>
              </a:spcAft>
              <a:buSzPts val="1800"/>
              <a:buChar char="-"/>
            </a:pPr>
            <a:r>
              <a:rPr lang="en" dirty="0"/>
              <a:t>u(t) : Control input at time t.</a:t>
            </a:r>
            <a:endParaRPr dirty="0"/>
          </a:p>
          <a:p>
            <a:pPr marL="457200" lvl="0" indent="-342900" algn="l" rtl="0">
              <a:spcBef>
                <a:spcPts val="0"/>
              </a:spcBef>
              <a:spcAft>
                <a:spcPts val="0"/>
              </a:spcAft>
              <a:buSzPts val="1800"/>
              <a:buChar char="-"/>
            </a:pPr>
            <a:r>
              <a:rPr lang="en" dirty="0"/>
              <a:t>f(⋅) : System dynamics function</a:t>
            </a:r>
            <a:endParaRPr dirty="0"/>
          </a:p>
        </p:txBody>
      </p:sp>
      <p:pic>
        <p:nvPicPr>
          <p:cNvPr id="63" name="Google Shape;63;p14"/>
          <p:cNvPicPr preferRelativeResize="0"/>
          <p:nvPr/>
        </p:nvPicPr>
        <p:blipFill rotWithShape="1">
          <a:blip r:embed="rId3">
            <a:alphaModFix/>
          </a:blip>
          <a:srcRect l="3183" t="61763" r="1777" b="6672"/>
          <a:stretch/>
        </p:blipFill>
        <p:spPr>
          <a:xfrm>
            <a:off x="1607175" y="2092225"/>
            <a:ext cx="5929649" cy="959050"/>
          </a:xfrm>
          <a:prstGeom prst="rect">
            <a:avLst/>
          </a:prstGeom>
          <a:noFill/>
          <a:ln>
            <a:noFill/>
          </a:ln>
        </p:spPr>
      </p:pic>
      <p:sp>
        <p:nvSpPr>
          <p:cNvPr id="2" name="Google Shape;80;p16">
            <a:extLst>
              <a:ext uri="{FF2B5EF4-FFF2-40B4-BE49-F238E27FC236}">
                <a16:creationId xmlns:a16="http://schemas.microsoft.com/office/drawing/2014/main" id="{9F1D8599-3A42-00A7-6950-C4065DB29DC2}"/>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3</a:t>
            </a:r>
            <a:endParaRPr lang="en-MY"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Comparison between RRT and Random Walk</a:t>
            </a:r>
            <a:endParaRPr/>
          </a:p>
        </p:txBody>
      </p:sp>
      <p:pic>
        <p:nvPicPr>
          <p:cNvPr id="87" name="Google Shape;87;p17" title="random_walk (3).png"/>
          <p:cNvPicPr preferRelativeResize="0"/>
          <p:nvPr/>
        </p:nvPicPr>
        <p:blipFill rotWithShape="1">
          <a:blip r:embed="rId3">
            <a:alphaModFix/>
          </a:blip>
          <a:srcRect b="14412"/>
          <a:stretch/>
        </p:blipFill>
        <p:spPr>
          <a:xfrm>
            <a:off x="4816025" y="1447025"/>
            <a:ext cx="3397024" cy="3450074"/>
          </a:xfrm>
          <a:prstGeom prst="rect">
            <a:avLst/>
          </a:prstGeom>
          <a:noFill/>
          <a:ln>
            <a:noFill/>
          </a:ln>
        </p:spPr>
      </p:pic>
      <p:pic>
        <p:nvPicPr>
          <p:cNvPr id="88" name="Google Shape;88;p17" title="rrt (4).png"/>
          <p:cNvPicPr preferRelativeResize="0"/>
          <p:nvPr/>
        </p:nvPicPr>
        <p:blipFill rotWithShape="1">
          <a:blip r:embed="rId4">
            <a:alphaModFix/>
          </a:blip>
          <a:srcRect b="14412"/>
          <a:stretch/>
        </p:blipFill>
        <p:spPr>
          <a:xfrm>
            <a:off x="930950" y="1447025"/>
            <a:ext cx="3397025" cy="3450074"/>
          </a:xfrm>
          <a:prstGeom prst="rect">
            <a:avLst/>
          </a:prstGeom>
          <a:noFill/>
          <a:ln>
            <a:noFill/>
          </a:ln>
        </p:spPr>
      </p:pic>
      <p:sp>
        <p:nvSpPr>
          <p:cNvPr id="89" name="Google Shape;89;p17"/>
          <p:cNvSpPr txBox="1">
            <a:spLocks noGrp="1"/>
          </p:cNvSpPr>
          <p:nvPr>
            <p:ph type="body" idx="1"/>
          </p:nvPr>
        </p:nvSpPr>
        <p:spPr>
          <a:xfrm>
            <a:off x="2167618" y="990897"/>
            <a:ext cx="923700" cy="572700"/>
          </a:xfrm>
          <a:prstGeom prst="rect">
            <a:avLst/>
          </a:prstGeom>
        </p:spPr>
        <p:txBody>
          <a:bodyPr spcFirstLastPara="1" wrap="square" lIns="91425" tIns="91425" rIns="91425" bIns="91425" anchor="t" anchorCtr="0">
            <a:normAutofit fontScale="77500" lnSpcReduction="20000"/>
          </a:bodyPr>
          <a:lstStyle/>
          <a:p>
            <a:pPr marL="0" lvl="0" indent="0" algn="ctr" rtl="0">
              <a:spcBef>
                <a:spcPts val="0"/>
              </a:spcBef>
              <a:spcAft>
                <a:spcPts val="1200"/>
              </a:spcAft>
              <a:buNone/>
            </a:pPr>
            <a:r>
              <a:rPr lang="en" sz="2000" b="1">
                <a:solidFill>
                  <a:srgbClr val="1A2850"/>
                </a:solidFill>
              </a:rPr>
              <a:t>RRT</a:t>
            </a:r>
            <a:endParaRPr sz="2000" b="1">
              <a:solidFill>
                <a:srgbClr val="1A2850"/>
              </a:solidFill>
            </a:endParaRPr>
          </a:p>
        </p:txBody>
      </p:sp>
      <p:sp>
        <p:nvSpPr>
          <p:cNvPr id="90" name="Google Shape;90;p17"/>
          <p:cNvSpPr txBox="1">
            <a:spLocks noGrp="1"/>
          </p:cNvSpPr>
          <p:nvPr>
            <p:ph type="body" idx="1"/>
          </p:nvPr>
        </p:nvSpPr>
        <p:spPr>
          <a:xfrm>
            <a:off x="5535176" y="990894"/>
            <a:ext cx="1958700" cy="572700"/>
          </a:xfrm>
          <a:prstGeom prst="rect">
            <a:avLst/>
          </a:prstGeom>
        </p:spPr>
        <p:txBody>
          <a:bodyPr spcFirstLastPara="1" wrap="square" lIns="91425" tIns="91425" rIns="91425" bIns="91425" anchor="t" anchorCtr="0">
            <a:normAutofit fontScale="77500" lnSpcReduction="20000"/>
          </a:bodyPr>
          <a:lstStyle/>
          <a:p>
            <a:pPr marL="0" lvl="0" indent="0" algn="ctr" rtl="0">
              <a:spcBef>
                <a:spcPts val="0"/>
              </a:spcBef>
              <a:spcAft>
                <a:spcPts val="1200"/>
              </a:spcAft>
              <a:buNone/>
            </a:pPr>
            <a:r>
              <a:rPr lang="en" sz="2000" b="1">
                <a:solidFill>
                  <a:srgbClr val="1A2850"/>
                </a:solidFill>
              </a:rPr>
              <a:t>Random Walk</a:t>
            </a:r>
            <a:endParaRPr sz="2000" b="1">
              <a:solidFill>
                <a:srgbClr val="1A2850"/>
              </a:solidFill>
            </a:endParaRPr>
          </a:p>
        </p:txBody>
      </p:sp>
      <p:sp>
        <p:nvSpPr>
          <p:cNvPr id="2" name="Google Shape;80;p16">
            <a:extLst>
              <a:ext uri="{FF2B5EF4-FFF2-40B4-BE49-F238E27FC236}">
                <a16:creationId xmlns:a16="http://schemas.microsoft.com/office/drawing/2014/main" id="{F88DC0B3-F183-F32C-E25C-5BEB62B52A37}"/>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4</a:t>
            </a:r>
            <a:endParaRPr lang="en-MY"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 (1/2)</a:t>
            </a:r>
            <a:endParaRPr/>
          </a:p>
        </p:txBody>
      </p:sp>
      <p:sp>
        <p:nvSpPr>
          <p:cNvPr id="96" name="Google Shape;9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7" name="Google Shape;97;p18"/>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98" name="Google Shape;98;p18"/>
          <p:cNvSpPr/>
          <p:nvPr/>
        </p:nvSpPr>
        <p:spPr>
          <a:xfrm>
            <a:off x="1450025" y="1790728"/>
            <a:ext cx="6278400" cy="28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6115709A-C802-9014-2A8D-03ED9F8C9522}"/>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5</a:t>
            </a:r>
            <a:endParaRPr lang="en-MY"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 (1/2)</a:t>
            </a:r>
            <a:endParaRPr/>
          </a:p>
        </p:txBody>
      </p:sp>
      <p:sp>
        <p:nvSpPr>
          <p:cNvPr id="104" name="Google Shape;10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5" name="Google Shape;105;p19"/>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106" name="Google Shape;106;p19"/>
          <p:cNvSpPr/>
          <p:nvPr/>
        </p:nvSpPr>
        <p:spPr>
          <a:xfrm>
            <a:off x="1450025" y="1992219"/>
            <a:ext cx="6278400" cy="28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CA5C648E-074D-EB91-581C-11431B60D1F8}"/>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6</a:t>
            </a:r>
            <a:endParaRPr lang="en-MY"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 (1/2)</a:t>
            </a:r>
            <a:endParaRPr/>
          </a:p>
        </p:txBody>
      </p:sp>
      <p:sp>
        <p:nvSpPr>
          <p:cNvPr id="112" name="Google Shape;11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3" name="Google Shape;113;p20"/>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114" name="Google Shape;114;p20"/>
          <p:cNvSpPr/>
          <p:nvPr/>
        </p:nvSpPr>
        <p:spPr>
          <a:xfrm>
            <a:off x="1450025" y="2242700"/>
            <a:ext cx="6278400" cy="439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4794B741-B275-10CF-D342-8F80B914E811}"/>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7</a:t>
            </a:r>
            <a:endParaRPr lang="en-MY"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 (1/2)</a:t>
            </a:r>
            <a:endParaRPr/>
          </a:p>
        </p:txBody>
      </p:sp>
      <p:sp>
        <p:nvSpPr>
          <p:cNvPr id="120" name="Google Shape;120;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1" name="Google Shape;121;p21"/>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122" name="Google Shape;122;p21"/>
          <p:cNvSpPr/>
          <p:nvPr/>
        </p:nvSpPr>
        <p:spPr>
          <a:xfrm>
            <a:off x="1450025" y="2682301"/>
            <a:ext cx="6278400" cy="4872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7ACF6C4A-0A7C-3571-772D-CF3A0599AB9E}"/>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8</a:t>
            </a:r>
            <a:endParaRPr lang="en-MY"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 (1/2)</a:t>
            </a:r>
            <a:endParaRPr/>
          </a:p>
        </p:txBody>
      </p:sp>
      <p:sp>
        <p:nvSpPr>
          <p:cNvPr id="128" name="Google Shape;12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9" name="Google Shape;129;p22"/>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130" name="Google Shape;130;p22"/>
          <p:cNvSpPr/>
          <p:nvPr/>
        </p:nvSpPr>
        <p:spPr>
          <a:xfrm>
            <a:off x="1450025" y="3066981"/>
            <a:ext cx="6278400" cy="476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AEC97AF5-AA5F-A61B-3873-1BED81803666}"/>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9</a:t>
            </a:r>
            <a:endParaRPr lang="en-MY"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Pseudocode of RRT Algorithm</a:t>
            </a:r>
            <a:endParaRPr/>
          </a:p>
        </p:txBody>
      </p:sp>
      <p:sp>
        <p:nvSpPr>
          <p:cNvPr id="179" name="Google Shape;179;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0" name="Google Shape;180;p29"/>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181" name="Google Shape;181;p29"/>
          <p:cNvSpPr/>
          <p:nvPr/>
        </p:nvSpPr>
        <p:spPr>
          <a:xfrm>
            <a:off x="1432800" y="1992203"/>
            <a:ext cx="6278400" cy="28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87BF7EE7-7CA3-AF5B-113F-423FB2CAEE74}"/>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10</a:t>
            </a:r>
            <a:endParaRPr lang="en-MY"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rgbClr val="263355"/>
                </a:solidFill>
              </a:rPr>
              <a:t>Which white car configuration is closest to blue?</a:t>
            </a:r>
            <a:endParaRPr dirty="0"/>
          </a:p>
        </p:txBody>
      </p:sp>
      <p:sp>
        <p:nvSpPr>
          <p:cNvPr id="187" name="Google Shape;187;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8" name="Google Shape;188;p30"/>
          <p:cNvPicPr preferRelativeResize="0"/>
          <p:nvPr/>
        </p:nvPicPr>
        <p:blipFill>
          <a:blip r:embed="rId3">
            <a:alphaModFix/>
          </a:blip>
          <a:stretch>
            <a:fillRect/>
          </a:stretch>
        </p:blipFill>
        <p:spPr>
          <a:xfrm>
            <a:off x="480763" y="1365250"/>
            <a:ext cx="2771775" cy="2990850"/>
          </a:xfrm>
          <a:prstGeom prst="rect">
            <a:avLst/>
          </a:prstGeom>
          <a:noFill/>
          <a:ln>
            <a:noFill/>
          </a:ln>
        </p:spPr>
      </p:pic>
      <p:sp>
        <p:nvSpPr>
          <p:cNvPr id="3" name="Google Shape;80;p16">
            <a:extLst>
              <a:ext uri="{FF2B5EF4-FFF2-40B4-BE49-F238E27FC236}">
                <a16:creationId xmlns:a16="http://schemas.microsoft.com/office/drawing/2014/main" id="{9A43FD9E-CA33-03E5-97CB-5502154759C1}"/>
              </a:ext>
            </a:extLst>
          </p:cNvPr>
          <p:cNvSpPr txBox="1">
            <a:spLocks/>
          </p:cNvSpPr>
          <p:nvPr/>
        </p:nvSpPr>
        <p:spPr>
          <a:xfrm>
            <a:off x="2710912" y="4280352"/>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4" name="Google Shape;80;p16">
            <a:extLst>
              <a:ext uri="{FF2B5EF4-FFF2-40B4-BE49-F238E27FC236}">
                <a16:creationId xmlns:a16="http://schemas.microsoft.com/office/drawing/2014/main" id="{019208FC-B1D3-05C2-CFDB-EA3F3057B099}"/>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11</a:t>
            </a:r>
            <a:endParaRPr lang="en-MY"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en" b="1" dirty="0">
                <a:solidFill>
                  <a:srgbClr val="263355"/>
                </a:solidFill>
              </a:rPr>
              <a:t>Which white car configuration is closest to blue?</a:t>
            </a:r>
            <a:endParaRPr dirty="0"/>
          </a:p>
        </p:txBody>
      </p:sp>
      <p:sp>
        <p:nvSpPr>
          <p:cNvPr id="194" name="Google Shape;194;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5" name="Google Shape;195;p31"/>
          <p:cNvPicPr preferRelativeResize="0"/>
          <p:nvPr/>
        </p:nvPicPr>
        <p:blipFill>
          <a:blip r:embed="rId3">
            <a:alphaModFix/>
          </a:blip>
          <a:stretch>
            <a:fillRect/>
          </a:stretch>
        </p:blipFill>
        <p:spPr>
          <a:xfrm>
            <a:off x="480763" y="1365250"/>
            <a:ext cx="2771775" cy="2990850"/>
          </a:xfrm>
          <a:prstGeom prst="rect">
            <a:avLst/>
          </a:prstGeom>
          <a:noFill/>
          <a:ln>
            <a:noFill/>
          </a:ln>
        </p:spPr>
      </p:pic>
      <p:pic>
        <p:nvPicPr>
          <p:cNvPr id="196" name="Google Shape;196;p31"/>
          <p:cNvPicPr preferRelativeResize="0"/>
          <p:nvPr/>
        </p:nvPicPr>
        <p:blipFill>
          <a:blip r:embed="rId4">
            <a:alphaModFix/>
          </a:blip>
          <a:stretch>
            <a:fillRect/>
          </a:stretch>
        </p:blipFill>
        <p:spPr>
          <a:xfrm>
            <a:off x="3689828" y="1365250"/>
            <a:ext cx="2102485" cy="2990850"/>
          </a:xfrm>
          <a:prstGeom prst="rect">
            <a:avLst/>
          </a:prstGeom>
          <a:noFill/>
          <a:ln>
            <a:noFill/>
          </a:ln>
        </p:spPr>
      </p:pic>
      <p:sp>
        <p:nvSpPr>
          <p:cNvPr id="3" name="Google Shape;80;p16">
            <a:extLst>
              <a:ext uri="{FF2B5EF4-FFF2-40B4-BE49-F238E27FC236}">
                <a16:creationId xmlns:a16="http://schemas.microsoft.com/office/drawing/2014/main" id="{06EAD622-DE5C-FC19-B036-2380E74858DF}"/>
              </a:ext>
            </a:extLst>
          </p:cNvPr>
          <p:cNvSpPr txBox="1">
            <a:spLocks/>
          </p:cNvSpPr>
          <p:nvPr/>
        </p:nvSpPr>
        <p:spPr>
          <a:xfrm>
            <a:off x="2710912" y="4280352"/>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4" name="Google Shape;80;p16">
            <a:extLst>
              <a:ext uri="{FF2B5EF4-FFF2-40B4-BE49-F238E27FC236}">
                <a16:creationId xmlns:a16="http://schemas.microsoft.com/office/drawing/2014/main" id="{4BFF0ADD-0550-254F-EBD2-70B8EF5AAF0F}"/>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11</a:t>
            </a:r>
            <a:endParaRPr lang="en-MY"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en" b="1" dirty="0">
                <a:solidFill>
                  <a:srgbClr val="263355"/>
                </a:solidFill>
              </a:rPr>
              <a:t>Which white car configuration is closest to blue?</a:t>
            </a:r>
            <a:endParaRPr dirty="0"/>
          </a:p>
        </p:txBody>
      </p:sp>
      <p:sp>
        <p:nvSpPr>
          <p:cNvPr id="202" name="Google Shape;202;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3" name="Google Shape;203;p32"/>
          <p:cNvPicPr preferRelativeResize="0"/>
          <p:nvPr/>
        </p:nvPicPr>
        <p:blipFill>
          <a:blip r:embed="rId3">
            <a:alphaModFix/>
          </a:blip>
          <a:stretch>
            <a:fillRect/>
          </a:stretch>
        </p:blipFill>
        <p:spPr>
          <a:xfrm>
            <a:off x="480763" y="1365250"/>
            <a:ext cx="2771775" cy="2990850"/>
          </a:xfrm>
          <a:prstGeom prst="rect">
            <a:avLst/>
          </a:prstGeom>
          <a:noFill/>
          <a:ln>
            <a:noFill/>
          </a:ln>
        </p:spPr>
      </p:pic>
      <p:pic>
        <p:nvPicPr>
          <p:cNvPr id="204" name="Google Shape;204;p32"/>
          <p:cNvPicPr preferRelativeResize="0"/>
          <p:nvPr/>
        </p:nvPicPr>
        <p:blipFill>
          <a:blip r:embed="rId4">
            <a:alphaModFix/>
          </a:blip>
          <a:stretch>
            <a:fillRect/>
          </a:stretch>
        </p:blipFill>
        <p:spPr>
          <a:xfrm>
            <a:off x="3689828" y="1365250"/>
            <a:ext cx="2102485" cy="2990850"/>
          </a:xfrm>
          <a:prstGeom prst="rect">
            <a:avLst/>
          </a:prstGeom>
          <a:noFill/>
          <a:ln>
            <a:noFill/>
          </a:ln>
        </p:spPr>
      </p:pic>
      <p:pic>
        <p:nvPicPr>
          <p:cNvPr id="205" name="Google Shape;205;p32"/>
          <p:cNvPicPr preferRelativeResize="0"/>
          <p:nvPr/>
        </p:nvPicPr>
        <p:blipFill>
          <a:blip r:embed="rId5">
            <a:alphaModFix/>
          </a:blip>
          <a:stretch>
            <a:fillRect/>
          </a:stretch>
        </p:blipFill>
        <p:spPr>
          <a:xfrm>
            <a:off x="6147424" y="1365250"/>
            <a:ext cx="2515804" cy="2990850"/>
          </a:xfrm>
          <a:prstGeom prst="rect">
            <a:avLst/>
          </a:prstGeom>
          <a:noFill/>
          <a:ln>
            <a:noFill/>
          </a:ln>
        </p:spPr>
      </p:pic>
      <p:cxnSp>
        <p:nvCxnSpPr>
          <p:cNvPr id="3" name="Straight Arrow Connector 2">
            <a:extLst>
              <a:ext uri="{FF2B5EF4-FFF2-40B4-BE49-F238E27FC236}">
                <a16:creationId xmlns:a16="http://schemas.microsoft.com/office/drawing/2014/main" id="{F1EC5721-DB4F-6F30-B11B-DBFB6DA2B53F}"/>
              </a:ext>
            </a:extLst>
          </p:cNvPr>
          <p:cNvCxnSpPr>
            <a:cxnSpLocks/>
          </p:cNvCxnSpPr>
          <p:nvPr/>
        </p:nvCxnSpPr>
        <p:spPr>
          <a:xfrm>
            <a:off x="5096528" y="2829261"/>
            <a:ext cx="0" cy="10865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6A94816-4B51-584C-09CA-30A7207CC39B}"/>
              </a:ext>
            </a:extLst>
          </p:cNvPr>
          <p:cNvCxnSpPr>
            <a:cxnSpLocks/>
          </p:cNvCxnSpPr>
          <p:nvPr/>
        </p:nvCxnSpPr>
        <p:spPr>
          <a:xfrm flipH="1" flipV="1">
            <a:off x="4399878" y="3119718"/>
            <a:ext cx="559397" cy="6454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D5B34CB-E1C4-ADC2-B883-D5F14EDCF27D}"/>
              </a:ext>
            </a:extLst>
          </p:cNvPr>
          <p:cNvCxnSpPr>
            <a:cxnSpLocks/>
          </p:cNvCxnSpPr>
          <p:nvPr/>
        </p:nvCxnSpPr>
        <p:spPr>
          <a:xfrm flipV="1">
            <a:off x="4399878" y="2194560"/>
            <a:ext cx="0" cy="819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C92175D-3800-9C14-DB9F-117374CE3717}"/>
              </a:ext>
            </a:extLst>
          </p:cNvPr>
          <p:cNvSpPr txBox="1"/>
          <p:nvPr/>
        </p:nvSpPr>
        <p:spPr>
          <a:xfrm>
            <a:off x="5143500" y="3076687"/>
            <a:ext cx="327334" cy="400110"/>
          </a:xfrm>
          <a:prstGeom prst="rect">
            <a:avLst/>
          </a:prstGeom>
          <a:noFill/>
        </p:spPr>
        <p:txBody>
          <a:bodyPr wrap="none" rtlCol="0">
            <a:spAutoFit/>
          </a:bodyPr>
          <a:lstStyle/>
          <a:p>
            <a:r>
              <a:rPr lang="en-US" sz="2000" b="1" dirty="0">
                <a:solidFill>
                  <a:srgbClr val="FF0000"/>
                </a:solidFill>
              </a:rPr>
              <a:t>1</a:t>
            </a:r>
          </a:p>
        </p:txBody>
      </p:sp>
      <p:sp>
        <p:nvSpPr>
          <p:cNvPr id="15" name="TextBox 14">
            <a:extLst>
              <a:ext uri="{FF2B5EF4-FFF2-40B4-BE49-F238E27FC236}">
                <a16:creationId xmlns:a16="http://schemas.microsoft.com/office/drawing/2014/main" id="{80F04214-886F-1DC5-EE40-121389AE46DB}"/>
              </a:ext>
            </a:extLst>
          </p:cNvPr>
          <p:cNvSpPr txBox="1"/>
          <p:nvPr/>
        </p:nvSpPr>
        <p:spPr>
          <a:xfrm>
            <a:off x="4617944" y="3076687"/>
            <a:ext cx="327334" cy="400110"/>
          </a:xfrm>
          <a:prstGeom prst="rect">
            <a:avLst/>
          </a:prstGeom>
          <a:noFill/>
        </p:spPr>
        <p:txBody>
          <a:bodyPr wrap="none" rtlCol="0">
            <a:spAutoFit/>
          </a:bodyPr>
          <a:lstStyle/>
          <a:p>
            <a:r>
              <a:rPr lang="en-US" sz="2000" b="1" dirty="0">
                <a:solidFill>
                  <a:srgbClr val="FF0000"/>
                </a:solidFill>
              </a:rPr>
              <a:t>2</a:t>
            </a:r>
          </a:p>
        </p:txBody>
      </p:sp>
      <p:sp>
        <p:nvSpPr>
          <p:cNvPr id="16" name="TextBox 15">
            <a:extLst>
              <a:ext uri="{FF2B5EF4-FFF2-40B4-BE49-F238E27FC236}">
                <a16:creationId xmlns:a16="http://schemas.microsoft.com/office/drawing/2014/main" id="{F09433AA-5C9F-03E6-6573-87F6F1D6750C}"/>
              </a:ext>
            </a:extLst>
          </p:cNvPr>
          <p:cNvSpPr txBox="1"/>
          <p:nvPr/>
        </p:nvSpPr>
        <p:spPr>
          <a:xfrm>
            <a:off x="3949187" y="2571750"/>
            <a:ext cx="327334" cy="400110"/>
          </a:xfrm>
          <a:prstGeom prst="rect">
            <a:avLst/>
          </a:prstGeom>
          <a:noFill/>
        </p:spPr>
        <p:txBody>
          <a:bodyPr wrap="none" rtlCol="0">
            <a:spAutoFit/>
          </a:bodyPr>
          <a:lstStyle/>
          <a:p>
            <a:r>
              <a:rPr lang="en-US" sz="2000" b="1" dirty="0">
                <a:solidFill>
                  <a:srgbClr val="FF0000"/>
                </a:solidFill>
              </a:rPr>
              <a:t>3</a:t>
            </a:r>
          </a:p>
        </p:txBody>
      </p:sp>
      <p:sp>
        <p:nvSpPr>
          <p:cNvPr id="18" name="Google Shape;80;p16">
            <a:extLst>
              <a:ext uri="{FF2B5EF4-FFF2-40B4-BE49-F238E27FC236}">
                <a16:creationId xmlns:a16="http://schemas.microsoft.com/office/drawing/2014/main" id="{00BA64FD-C365-D31D-7813-0055425EAAAE}"/>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11</a:t>
            </a:r>
            <a:endParaRPr lang="en-MY" dirty="0"/>
          </a:p>
        </p:txBody>
      </p:sp>
      <p:sp>
        <p:nvSpPr>
          <p:cNvPr id="19" name="Google Shape;80;p16">
            <a:extLst>
              <a:ext uri="{FF2B5EF4-FFF2-40B4-BE49-F238E27FC236}">
                <a16:creationId xmlns:a16="http://schemas.microsoft.com/office/drawing/2014/main" id="{EF84A1C6-9B72-908D-559E-AD245CB693A3}"/>
              </a:ext>
            </a:extLst>
          </p:cNvPr>
          <p:cNvSpPr txBox="1">
            <a:spLocks/>
          </p:cNvSpPr>
          <p:nvPr/>
        </p:nvSpPr>
        <p:spPr>
          <a:xfrm>
            <a:off x="2710912" y="4280352"/>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Pseudocode of RRT Algorithm</a:t>
            </a:r>
            <a:endParaRPr/>
          </a:p>
          <a:p>
            <a:pPr marL="0" lvl="0" indent="0" algn="l" rtl="0">
              <a:spcBef>
                <a:spcPts val="0"/>
              </a:spcBef>
              <a:spcAft>
                <a:spcPts val="0"/>
              </a:spcAft>
              <a:buNone/>
            </a:pPr>
            <a:endParaRPr/>
          </a:p>
        </p:txBody>
      </p:sp>
      <p:sp>
        <p:nvSpPr>
          <p:cNvPr id="211" name="Google Shape;211;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2" name="Google Shape;212;p33"/>
          <p:cNvPicPr preferRelativeResize="0"/>
          <p:nvPr/>
        </p:nvPicPr>
        <p:blipFill>
          <a:blip r:embed="rId3">
            <a:alphaModFix/>
          </a:blip>
          <a:stretch>
            <a:fillRect/>
          </a:stretch>
        </p:blipFill>
        <p:spPr>
          <a:xfrm>
            <a:off x="1361625" y="1263675"/>
            <a:ext cx="6420750" cy="3194000"/>
          </a:xfrm>
          <a:prstGeom prst="rect">
            <a:avLst/>
          </a:prstGeom>
          <a:noFill/>
          <a:ln>
            <a:noFill/>
          </a:ln>
        </p:spPr>
      </p:pic>
      <p:sp>
        <p:nvSpPr>
          <p:cNvPr id="213" name="Google Shape;213;p33"/>
          <p:cNvSpPr/>
          <p:nvPr/>
        </p:nvSpPr>
        <p:spPr>
          <a:xfrm>
            <a:off x="1450025" y="2230350"/>
            <a:ext cx="6278400" cy="431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0;p16">
            <a:extLst>
              <a:ext uri="{FF2B5EF4-FFF2-40B4-BE49-F238E27FC236}">
                <a16:creationId xmlns:a16="http://schemas.microsoft.com/office/drawing/2014/main" id="{B680DD35-A775-3324-1D42-507BEEC95CC7}"/>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12</a:t>
            </a:r>
            <a:endParaRPr lang="en-MY"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solidFill>
                  <a:srgbClr val="263355"/>
                </a:solidFill>
              </a:rPr>
              <a:t>Simple Local Planner: How to move?</a:t>
            </a:r>
            <a:endParaRPr dirty="0"/>
          </a:p>
          <a:p>
            <a:pPr marL="0" lvl="0" indent="0" algn="l" rtl="0">
              <a:spcBef>
                <a:spcPts val="0"/>
              </a:spcBef>
              <a:spcAft>
                <a:spcPts val="0"/>
              </a:spcAft>
              <a:buNone/>
            </a:pPr>
            <a:endParaRPr dirty="0"/>
          </a:p>
        </p:txBody>
      </p:sp>
      <p:sp>
        <p:nvSpPr>
          <p:cNvPr id="225" name="Google Shape;225;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marL="457200" lvl="0" indent="-342900" algn="l" rtl="0">
              <a:spcBef>
                <a:spcPts val="0"/>
              </a:spcBef>
              <a:spcAft>
                <a:spcPts val="0"/>
              </a:spcAft>
              <a:buSzPts val="1800"/>
              <a:buChar char="-"/>
            </a:pPr>
            <a:r>
              <a:rPr lang="en" dirty="0"/>
              <a:t>Integrated discretized control that gets “closest” to the sampled state</a:t>
            </a:r>
            <a:endParaRPr dirty="0"/>
          </a:p>
        </p:txBody>
      </p:sp>
      <p:pic>
        <p:nvPicPr>
          <p:cNvPr id="9" name="Picture 8">
            <a:extLst>
              <a:ext uri="{FF2B5EF4-FFF2-40B4-BE49-F238E27FC236}">
                <a16:creationId xmlns:a16="http://schemas.microsoft.com/office/drawing/2014/main" id="{042107AB-63B2-4BEE-1EAC-3DC16F360D0D}"/>
              </a:ext>
            </a:extLst>
          </p:cNvPr>
          <p:cNvPicPr>
            <a:picLocks noChangeAspect="1"/>
          </p:cNvPicPr>
          <p:nvPr/>
        </p:nvPicPr>
        <p:blipFill>
          <a:blip r:embed="rId3"/>
          <a:stretch>
            <a:fillRect/>
          </a:stretch>
        </p:blipFill>
        <p:spPr>
          <a:xfrm>
            <a:off x="307901" y="2083575"/>
            <a:ext cx="2945523" cy="2807143"/>
          </a:xfrm>
          <a:prstGeom prst="rect">
            <a:avLst/>
          </a:prstGeom>
        </p:spPr>
      </p:pic>
      <p:pic>
        <p:nvPicPr>
          <p:cNvPr id="11" name="Picture 10">
            <a:extLst>
              <a:ext uri="{FF2B5EF4-FFF2-40B4-BE49-F238E27FC236}">
                <a16:creationId xmlns:a16="http://schemas.microsoft.com/office/drawing/2014/main" id="{2AA0CB81-80F0-E077-03E5-520F27EED32F}"/>
              </a:ext>
            </a:extLst>
          </p:cNvPr>
          <p:cNvPicPr>
            <a:picLocks noChangeAspect="1"/>
          </p:cNvPicPr>
          <p:nvPr/>
        </p:nvPicPr>
        <p:blipFill>
          <a:blip r:embed="rId4"/>
          <a:stretch>
            <a:fillRect/>
          </a:stretch>
        </p:blipFill>
        <p:spPr>
          <a:xfrm>
            <a:off x="3193826" y="1988506"/>
            <a:ext cx="2885441" cy="2997280"/>
          </a:xfrm>
          <a:prstGeom prst="rect">
            <a:avLst/>
          </a:prstGeom>
        </p:spPr>
      </p:pic>
      <p:pic>
        <p:nvPicPr>
          <p:cNvPr id="13" name="Picture 12">
            <a:extLst>
              <a:ext uri="{FF2B5EF4-FFF2-40B4-BE49-F238E27FC236}">
                <a16:creationId xmlns:a16="http://schemas.microsoft.com/office/drawing/2014/main" id="{9BDE1497-80A8-D5C9-02A5-EDCF435B159F}"/>
              </a:ext>
            </a:extLst>
          </p:cNvPr>
          <p:cNvPicPr>
            <a:picLocks noChangeAspect="1"/>
          </p:cNvPicPr>
          <p:nvPr/>
        </p:nvPicPr>
        <p:blipFill>
          <a:blip r:embed="rId5"/>
          <a:stretch>
            <a:fillRect/>
          </a:stretch>
        </p:blipFill>
        <p:spPr>
          <a:xfrm>
            <a:off x="5977476" y="1988506"/>
            <a:ext cx="2885441" cy="2997280"/>
          </a:xfrm>
          <a:prstGeom prst="rect">
            <a:avLst/>
          </a:prstGeom>
        </p:spPr>
      </p:pic>
      <p:sp>
        <p:nvSpPr>
          <p:cNvPr id="14" name="Google Shape;80;p16">
            <a:extLst>
              <a:ext uri="{FF2B5EF4-FFF2-40B4-BE49-F238E27FC236}">
                <a16:creationId xmlns:a16="http://schemas.microsoft.com/office/drawing/2014/main" id="{300135BC-55BD-4B05-FE5C-90BA53AA80D0}"/>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13</a:t>
            </a:r>
            <a:endParaRPr lang="en-MY"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BFF7E261-2290-B5F5-A677-477F686F464A}"/>
            </a:ext>
          </a:extLst>
        </p:cNvPr>
        <p:cNvGrpSpPr/>
        <p:nvPr/>
      </p:nvGrpSpPr>
      <p:grpSpPr>
        <a:xfrm>
          <a:off x="0" y="0"/>
          <a:ext cx="0" cy="0"/>
          <a:chOff x="0" y="0"/>
          <a:chExt cx="0" cy="0"/>
        </a:xfrm>
      </p:grpSpPr>
      <p:sp>
        <p:nvSpPr>
          <p:cNvPr id="224" name="Google Shape;224;p35">
            <a:extLst>
              <a:ext uri="{FF2B5EF4-FFF2-40B4-BE49-F238E27FC236}">
                <a16:creationId xmlns:a16="http://schemas.microsoft.com/office/drawing/2014/main" id="{88D8D8CA-E33E-2952-46FA-BE717AF70C0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solidFill>
                  <a:srgbClr val="263355"/>
                </a:solidFill>
              </a:rPr>
              <a:t>Examples of Local Planners</a:t>
            </a:r>
            <a:endParaRPr dirty="0"/>
          </a:p>
          <a:p>
            <a:pPr marL="0" lvl="0" indent="0" algn="l" rtl="0">
              <a:spcBef>
                <a:spcPts val="0"/>
              </a:spcBef>
              <a:spcAft>
                <a:spcPts val="0"/>
              </a:spcAft>
              <a:buNone/>
            </a:pPr>
            <a:endParaRPr dirty="0"/>
          </a:p>
        </p:txBody>
      </p:sp>
      <p:sp>
        <p:nvSpPr>
          <p:cNvPr id="225" name="Google Shape;225;p35">
            <a:extLst>
              <a:ext uri="{FF2B5EF4-FFF2-40B4-BE49-F238E27FC236}">
                <a16:creationId xmlns:a16="http://schemas.microsoft.com/office/drawing/2014/main" id="{04C6F8D9-93EB-C0DB-0C95-C0557B90D736}"/>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lvl="0">
              <a:buChar char="-"/>
            </a:pPr>
            <a:r>
              <a:rPr lang="en" dirty="0"/>
              <a:t>Integrated discretized control that gets “closest” to the sampled state</a:t>
            </a:r>
            <a:endParaRPr dirty="0"/>
          </a:p>
        </p:txBody>
      </p:sp>
      <p:pic>
        <p:nvPicPr>
          <p:cNvPr id="9" name="Picture 8">
            <a:extLst>
              <a:ext uri="{FF2B5EF4-FFF2-40B4-BE49-F238E27FC236}">
                <a16:creationId xmlns:a16="http://schemas.microsoft.com/office/drawing/2014/main" id="{02CE0ACD-345D-0352-D32A-4810A1101265}"/>
              </a:ext>
            </a:extLst>
          </p:cNvPr>
          <p:cNvPicPr>
            <a:picLocks noChangeAspect="1"/>
          </p:cNvPicPr>
          <p:nvPr/>
        </p:nvPicPr>
        <p:blipFill>
          <a:blip r:embed="rId3"/>
          <a:stretch>
            <a:fillRect/>
          </a:stretch>
        </p:blipFill>
        <p:spPr>
          <a:xfrm>
            <a:off x="307901" y="2083575"/>
            <a:ext cx="2945523" cy="2807143"/>
          </a:xfrm>
          <a:prstGeom prst="rect">
            <a:avLst/>
          </a:prstGeom>
        </p:spPr>
      </p:pic>
      <p:pic>
        <p:nvPicPr>
          <p:cNvPr id="11" name="Picture 10">
            <a:extLst>
              <a:ext uri="{FF2B5EF4-FFF2-40B4-BE49-F238E27FC236}">
                <a16:creationId xmlns:a16="http://schemas.microsoft.com/office/drawing/2014/main" id="{0F31E182-9BAD-A036-25C3-3BAD80C63EA8}"/>
              </a:ext>
            </a:extLst>
          </p:cNvPr>
          <p:cNvPicPr>
            <a:picLocks noChangeAspect="1"/>
          </p:cNvPicPr>
          <p:nvPr/>
        </p:nvPicPr>
        <p:blipFill>
          <a:blip r:embed="rId4"/>
          <a:stretch>
            <a:fillRect/>
          </a:stretch>
        </p:blipFill>
        <p:spPr>
          <a:xfrm>
            <a:off x="3193826" y="1988506"/>
            <a:ext cx="2885441" cy="2997280"/>
          </a:xfrm>
          <a:prstGeom prst="rect">
            <a:avLst/>
          </a:prstGeom>
        </p:spPr>
      </p:pic>
      <p:pic>
        <p:nvPicPr>
          <p:cNvPr id="13" name="Picture 12">
            <a:extLst>
              <a:ext uri="{FF2B5EF4-FFF2-40B4-BE49-F238E27FC236}">
                <a16:creationId xmlns:a16="http://schemas.microsoft.com/office/drawing/2014/main" id="{554E2763-2F3F-7DAE-FFC5-0A5F1C7553F8}"/>
              </a:ext>
            </a:extLst>
          </p:cNvPr>
          <p:cNvPicPr>
            <a:picLocks noChangeAspect="1"/>
          </p:cNvPicPr>
          <p:nvPr/>
        </p:nvPicPr>
        <p:blipFill>
          <a:blip r:embed="rId5"/>
          <a:stretch>
            <a:fillRect/>
          </a:stretch>
        </p:blipFill>
        <p:spPr>
          <a:xfrm>
            <a:off x="5977476" y="1988506"/>
            <a:ext cx="2885441" cy="2997280"/>
          </a:xfrm>
          <a:prstGeom prst="rect">
            <a:avLst/>
          </a:prstGeom>
        </p:spPr>
      </p:pic>
      <p:sp>
        <p:nvSpPr>
          <p:cNvPr id="14" name="Google Shape;80;p16">
            <a:extLst>
              <a:ext uri="{FF2B5EF4-FFF2-40B4-BE49-F238E27FC236}">
                <a16:creationId xmlns:a16="http://schemas.microsoft.com/office/drawing/2014/main" id="{F55CECBE-4A81-9F10-6412-C6F27344DEBA}"/>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13</a:t>
            </a:r>
            <a:endParaRPr lang="en-MY" dirty="0"/>
          </a:p>
        </p:txBody>
      </p:sp>
      <p:cxnSp>
        <p:nvCxnSpPr>
          <p:cNvPr id="3" name="Straight Arrow Connector 2">
            <a:extLst>
              <a:ext uri="{FF2B5EF4-FFF2-40B4-BE49-F238E27FC236}">
                <a16:creationId xmlns:a16="http://schemas.microsoft.com/office/drawing/2014/main" id="{AE73BFDD-67A4-5D65-1790-C140B8DB90ED}"/>
              </a:ext>
            </a:extLst>
          </p:cNvPr>
          <p:cNvCxnSpPr/>
          <p:nvPr/>
        </p:nvCxnSpPr>
        <p:spPr>
          <a:xfrm>
            <a:off x="7249886" y="3657600"/>
            <a:ext cx="144997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25;p35">
            <a:extLst>
              <a:ext uri="{FF2B5EF4-FFF2-40B4-BE49-F238E27FC236}">
                <a16:creationId xmlns:a16="http://schemas.microsoft.com/office/drawing/2014/main" id="{884DB987-FE6E-2305-9315-C65D5F3B747B}"/>
              </a:ext>
            </a:extLst>
          </p:cNvPr>
          <p:cNvSpPr txBox="1">
            <a:spLocks/>
          </p:cNvSpPr>
          <p:nvPr/>
        </p:nvSpPr>
        <p:spPr>
          <a:xfrm>
            <a:off x="7938089" y="3117560"/>
            <a:ext cx="1730460" cy="6439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MY" b="1" dirty="0">
                <a:solidFill>
                  <a:srgbClr val="FF0000"/>
                </a:solidFill>
              </a:rPr>
              <a:t>Forward</a:t>
            </a:r>
          </a:p>
        </p:txBody>
      </p:sp>
    </p:spTree>
    <p:extLst>
      <p:ext uri="{BB962C8B-B14F-4D97-AF65-F5344CB8AC3E}">
        <p14:creationId xmlns:p14="http://schemas.microsoft.com/office/powerpoint/2010/main" val="4112293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891EAA8A-5CD6-AF26-C386-E55268D13D75}"/>
            </a:ext>
          </a:extLst>
        </p:cNvPr>
        <p:cNvGrpSpPr/>
        <p:nvPr/>
      </p:nvGrpSpPr>
      <p:grpSpPr>
        <a:xfrm>
          <a:off x="0" y="0"/>
          <a:ext cx="0" cy="0"/>
          <a:chOff x="0" y="0"/>
          <a:chExt cx="0" cy="0"/>
        </a:xfrm>
      </p:grpSpPr>
      <p:sp>
        <p:nvSpPr>
          <p:cNvPr id="224" name="Google Shape;224;p35">
            <a:extLst>
              <a:ext uri="{FF2B5EF4-FFF2-40B4-BE49-F238E27FC236}">
                <a16:creationId xmlns:a16="http://schemas.microsoft.com/office/drawing/2014/main" id="{2F615390-F113-3359-177C-CA87C630D94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solidFill>
                  <a:srgbClr val="263355"/>
                </a:solidFill>
              </a:rPr>
              <a:t>Examples of Local Planners</a:t>
            </a:r>
            <a:endParaRPr dirty="0"/>
          </a:p>
          <a:p>
            <a:pPr marL="0" lvl="0" indent="0" algn="l" rtl="0">
              <a:spcBef>
                <a:spcPts val="0"/>
              </a:spcBef>
              <a:spcAft>
                <a:spcPts val="0"/>
              </a:spcAft>
              <a:buNone/>
            </a:pPr>
            <a:endParaRPr dirty="0"/>
          </a:p>
        </p:txBody>
      </p:sp>
      <p:sp>
        <p:nvSpPr>
          <p:cNvPr id="225" name="Google Shape;225;p35">
            <a:extLst>
              <a:ext uri="{FF2B5EF4-FFF2-40B4-BE49-F238E27FC236}">
                <a16:creationId xmlns:a16="http://schemas.microsoft.com/office/drawing/2014/main" id="{33FBBD7F-6AA7-E64D-E3DE-20F8FDAF0518}"/>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lvl="0">
              <a:buChar char="-"/>
            </a:pPr>
            <a:r>
              <a:rPr lang="en" dirty="0"/>
              <a:t>Integrated discretized control that gets “closest” to the sampled state</a:t>
            </a:r>
            <a:endParaRPr dirty="0"/>
          </a:p>
        </p:txBody>
      </p:sp>
      <p:pic>
        <p:nvPicPr>
          <p:cNvPr id="9" name="Picture 8">
            <a:extLst>
              <a:ext uri="{FF2B5EF4-FFF2-40B4-BE49-F238E27FC236}">
                <a16:creationId xmlns:a16="http://schemas.microsoft.com/office/drawing/2014/main" id="{3CB43C24-28DF-0A45-9B80-B78080FECD0C}"/>
              </a:ext>
            </a:extLst>
          </p:cNvPr>
          <p:cNvPicPr>
            <a:picLocks noChangeAspect="1"/>
          </p:cNvPicPr>
          <p:nvPr/>
        </p:nvPicPr>
        <p:blipFill>
          <a:blip r:embed="rId3"/>
          <a:stretch>
            <a:fillRect/>
          </a:stretch>
        </p:blipFill>
        <p:spPr>
          <a:xfrm>
            <a:off x="307901" y="2083575"/>
            <a:ext cx="2945523" cy="2807143"/>
          </a:xfrm>
          <a:prstGeom prst="rect">
            <a:avLst/>
          </a:prstGeom>
        </p:spPr>
      </p:pic>
      <p:pic>
        <p:nvPicPr>
          <p:cNvPr id="11" name="Picture 10">
            <a:extLst>
              <a:ext uri="{FF2B5EF4-FFF2-40B4-BE49-F238E27FC236}">
                <a16:creationId xmlns:a16="http://schemas.microsoft.com/office/drawing/2014/main" id="{07FFC178-4893-B1EC-1DD0-2F45ED5BB2A4}"/>
              </a:ext>
            </a:extLst>
          </p:cNvPr>
          <p:cNvPicPr>
            <a:picLocks noChangeAspect="1"/>
          </p:cNvPicPr>
          <p:nvPr/>
        </p:nvPicPr>
        <p:blipFill>
          <a:blip r:embed="rId4"/>
          <a:stretch>
            <a:fillRect/>
          </a:stretch>
        </p:blipFill>
        <p:spPr>
          <a:xfrm>
            <a:off x="3193826" y="1988506"/>
            <a:ext cx="2885441" cy="2997280"/>
          </a:xfrm>
          <a:prstGeom prst="rect">
            <a:avLst/>
          </a:prstGeom>
        </p:spPr>
      </p:pic>
      <p:pic>
        <p:nvPicPr>
          <p:cNvPr id="13" name="Picture 12">
            <a:extLst>
              <a:ext uri="{FF2B5EF4-FFF2-40B4-BE49-F238E27FC236}">
                <a16:creationId xmlns:a16="http://schemas.microsoft.com/office/drawing/2014/main" id="{7AC4BFFD-4DCB-FA1E-5CD6-CABA5C38E6F7}"/>
              </a:ext>
            </a:extLst>
          </p:cNvPr>
          <p:cNvPicPr>
            <a:picLocks noChangeAspect="1"/>
          </p:cNvPicPr>
          <p:nvPr/>
        </p:nvPicPr>
        <p:blipFill>
          <a:blip r:embed="rId5"/>
          <a:stretch>
            <a:fillRect/>
          </a:stretch>
        </p:blipFill>
        <p:spPr>
          <a:xfrm>
            <a:off x="5977476" y="1988506"/>
            <a:ext cx="2885441" cy="2997280"/>
          </a:xfrm>
          <a:prstGeom prst="rect">
            <a:avLst/>
          </a:prstGeom>
        </p:spPr>
      </p:pic>
      <p:sp>
        <p:nvSpPr>
          <p:cNvPr id="14" name="Google Shape;80;p16">
            <a:extLst>
              <a:ext uri="{FF2B5EF4-FFF2-40B4-BE49-F238E27FC236}">
                <a16:creationId xmlns:a16="http://schemas.microsoft.com/office/drawing/2014/main" id="{EA9E74DF-D5A7-0C8A-C012-43E4B90CF291}"/>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13</a:t>
            </a:r>
            <a:endParaRPr lang="en-MY" dirty="0"/>
          </a:p>
        </p:txBody>
      </p:sp>
      <p:cxnSp>
        <p:nvCxnSpPr>
          <p:cNvPr id="3" name="Straight Arrow Connector 2">
            <a:extLst>
              <a:ext uri="{FF2B5EF4-FFF2-40B4-BE49-F238E27FC236}">
                <a16:creationId xmlns:a16="http://schemas.microsoft.com/office/drawing/2014/main" id="{9B7B6BAF-BD36-F19E-B330-9695E282889B}"/>
              </a:ext>
            </a:extLst>
          </p:cNvPr>
          <p:cNvCxnSpPr>
            <a:cxnSpLocks/>
          </p:cNvCxnSpPr>
          <p:nvPr/>
        </p:nvCxnSpPr>
        <p:spPr>
          <a:xfrm flipH="1">
            <a:off x="5977476" y="3657600"/>
            <a:ext cx="127241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25;p35">
            <a:extLst>
              <a:ext uri="{FF2B5EF4-FFF2-40B4-BE49-F238E27FC236}">
                <a16:creationId xmlns:a16="http://schemas.microsoft.com/office/drawing/2014/main" id="{4ADEDD09-A8E9-3CB4-D8F0-5523ECA5D6A6}"/>
              </a:ext>
            </a:extLst>
          </p:cNvPr>
          <p:cNvSpPr txBox="1">
            <a:spLocks/>
          </p:cNvSpPr>
          <p:nvPr/>
        </p:nvSpPr>
        <p:spPr>
          <a:xfrm>
            <a:off x="5270320" y="3013650"/>
            <a:ext cx="1730460" cy="6439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MY" b="1" dirty="0">
                <a:solidFill>
                  <a:srgbClr val="FF0000"/>
                </a:solidFill>
              </a:rPr>
              <a:t>Backward</a:t>
            </a:r>
          </a:p>
        </p:txBody>
      </p:sp>
    </p:spTree>
    <p:extLst>
      <p:ext uri="{BB962C8B-B14F-4D97-AF65-F5344CB8AC3E}">
        <p14:creationId xmlns:p14="http://schemas.microsoft.com/office/powerpoint/2010/main" val="1835419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C1CE3756-39B7-44A4-057E-EE7797144B29}"/>
            </a:ext>
          </a:extLst>
        </p:cNvPr>
        <p:cNvGrpSpPr/>
        <p:nvPr/>
      </p:nvGrpSpPr>
      <p:grpSpPr>
        <a:xfrm>
          <a:off x="0" y="0"/>
          <a:ext cx="0" cy="0"/>
          <a:chOff x="0" y="0"/>
          <a:chExt cx="0" cy="0"/>
        </a:xfrm>
      </p:grpSpPr>
      <p:sp>
        <p:nvSpPr>
          <p:cNvPr id="224" name="Google Shape;224;p35">
            <a:extLst>
              <a:ext uri="{FF2B5EF4-FFF2-40B4-BE49-F238E27FC236}">
                <a16:creationId xmlns:a16="http://schemas.microsoft.com/office/drawing/2014/main" id="{2AA7C492-0752-3C32-3D0A-D1113F1EE9F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solidFill>
                  <a:srgbClr val="263355"/>
                </a:solidFill>
              </a:rPr>
              <a:t>Examples of Local Planners</a:t>
            </a:r>
            <a:endParaRPr dirty="0"/>
          </a:p>
          <a:p>
            <a:pPr marL="0" lvl="0" indent="0" algn="l" rtl="0">
              <a:spcBef>
                <a:spcPts val="0"/>
              </a:spcBef>
              <a:spcAft>
                <a:spcPts val="0"/>
              </a:spcAft>
              <a:buNone/>
            </a:pPr>
            <a:endParaRPr dirty="0"/>
          </a:p>
        </p:txBody>
      </p:sp>
      <p:sp>
        <p:nvSpPr>
          <p:cNvPr id="225" name="Google Shape;225;p35">
            <a:extLst>
              <a:ext uri="{FF2B5EF4-FFF2-40B4-BE49-F238E27FC236}">
                <a16:creationId xmlns:a16="http://schemas.microsoft.com/office/drawing/2014/main" id="{72FC016B-35BE-D70A-D3B1-CE9CBFF20DFB}"/>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lvl="0">
              <a:buChar char="-"/>
            </a:pPr>
            <a:r>
              <a:rPr lang="en" dirty="0"/>
              <a:t>Integrated discretized control that gets “closest” to the sampled state</a:t>
            </a:r>
            <a:endParaRPr dirty="0"/>
          </a:p>
        </p:txBody>
      </p:sp>
      <p:pic>
        <p:nvPicPr>
          <p:cNvPr id="9" name="Picture 8">
            <a:extLst>
              <a:ext uri="{FF2B5EF4-FFF2-40B4-BE49-F238E27FC236}">
                <a16:creationId xmlns:a16="http://schemas.microsoft.com/office/drawing/2014/main" id="{17A6B7BA-3675-05D8-ACE7-7FFD4929621F}"/>
              </a:ext>
            </a:extLst>
          </p:cNvPr>
          <p:cNvPicPr>
            <a:picLocks noChangeAspect="1"/>
          </p:cNvPicPr>
          <p:nvPr/>
        </p:nvPicPr>
        <p:blipFill>
          <a:blip r:embed="rId3"/>
          <a:stretch>
            <a:fillRect/>
          </a:stretch>
        </p:blipFill>
        <p:spPr>
          <a:xfrm>
            <a:off x="307901" y="2083575"/>
            <a:ext cx="2945523" cy="2807143"/>
          </a:xfrm>
          <a:prstGeom prst="rect">
            <a:avLst/>
          </a:prstGeom>
        </p:spPr>
      </p:pic>
      <p:pic>
        <p:nvPicPr>
          <p:cNvPr id="11" name="Picture 10">
            <a:extLst>
              <a:ext uri="{FF2B5EF4-FFF2-40B4-BE49-F238E27FC236}">
                <a16:creationId xmlns:a16="http://schemas.microsoft.com/office/drawing/2014/main" id="{9A88AF91-127D-A095-DF60-5979BE8BE481}"/>
              </a:ext>
            </a:extLst>
          </p:cNvPr>
          <p:cNvPicPr>
            <a:picLocks noChangeAspect="1"/>
          </p:cNvPicPr>
          <p:nvPr/>
        </p:nvPicPr>
        <p:blipFill>
          <a:blip r:embed="rId4"/>
          <a:stretch>
            <a:fillRect/>
          </a:stretch>
        </p:blipFill>
        <p:spPr>
          <a:xfrm>
            <a:off x="3193826" y="1988506"/>
            <a:ext cx="2885441" cy="2997280"/>
          </a:xfrm>
          <a:prstGeom prst="rect">
            <a:avLst/>
          </a:prstGeom>
        </p:spPr>
      </p:pic>
      <p:pic>
        <p:nvPicPr>
          <p:cNvPr id="13" name="Picture 12">
            <a:extLst>
              <a:ext uri="{FF2B5EF4-FFF2-40B4-BE49-F238E27FC236}">
                <a16:creationId xmlns:a16="http://schemas.microsoft.com/office/drawing/2014/main" id="{C5EA528D-C38E-F916-0001-A5F325D026CD}"/>
              </a:ext>
            </a:extLst>
          </p:cNvPr>
          <p:cNvPicPr>
            <a:picLocks noChangeAspect="1"/>
          </p:cNvPicPr>
          <p:nvPr/>
        </p:nvPicPr>
        <p:blipFill>
          <a:blip r:embed="rId5"/>
          <a:stretch>
            <a:fillRect/>
          </a:stretch>
        </p:blipFill>
        <p:spPr>
          <a:xfrm>
            <a:off x="5977476" y="1988506"/>
            <a:ext cx="2885441" cy="2997280"/>
          </a:xfrm>
          <a:prstGeom prst="rect">
            <a:avLst/>
          </a:prstGeom>
        </p:spPr>
      </p:pic>
      <p:sp>
        <p:nvSpPr>
          <p:cNvPr id="14" name="Google Shape;80;p16">
            <a:extLst>
              <a:ext uri="{FF2B5EF4-FFF2-40B4-BE49-F238E27FC236}">
                <a16:creationId xmlns:a16="http://schemas.microsoft.com/office/drawing/2014/main" id="{BA341E11-D7EC-A2AC-B938-08421D4F0005}"/>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13</a:t>
            </a:r>
            <a:endParaRPr lang="en-MY" dirty="0"/>
          </a:p>
        </p:txBody>
      </p:sp>
      <p:cxnSp>
        <p:nvCxnSpPr>
          <p:cNvPr id="3" name="Straight Arrow Connector 2">
            <a:extLst>
              <a:ext uri="{FF2B5EF4-FFF2-40B4-BE49-F238E27FC236}">
                <a16:creationId xmlns:a16="http://schemas.microsoft.com/office/drawing/2014/main" id="{ACF776A6-9203-8742-FB37-70FB2D49889B}"/>
              </a:ext>
            </a:extLst>
          </p:cNvPr>
          <p:cNvCxnSpPr>
            <a:cxnSpLocks/>
          </p:cNvCxnSpPr>
          <p:nvPr/>
        </p:nvCxnSpPr>
        <p:spPr>
          <a:xfrm flipV="1">
            <a:off x="7249886" y="3013650"/>
            <a:ext cx="966651" cy="6439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25;p35">
            <a:extLst>
              <a:ext uri="{FF2B5EF4-FFF2-40B4-BE49-F238E27FC236}">
                <a16:creationId xmlns:a16="http://schemas.microsoft.com/office/drawing/2014/main" id="{C0522E09-447D-605E-66D9-CFD8E7CAE978}"/>
              </a:ext>
            </a:extLst>
          </p:cNvPr>
          <p:cNvSpPr txBox="1">
            <a:spLocks/>
          </p:cNvSpPr>
          <p:nvPr/>
        </p:nvSpPr>
        <p:spPr>
          <a:xfrm>
            <a:off x="7520786" y="2378893"/>
            <a:ext cx="1730460" cy="6439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MY" b="1" dirty="0">
                <a:solidFill>
                  <a:srgbClr val="FF0000"/>
                </a:solidFill>
              </a:rPr>
              <a:t>Forward Left</a:t>
            </a:r>
          </a:p>
        </p:txBody>
      </p:sp>
    </p:spTree>
    <p:extLst>
      <p:ext uri="{BB962C8B-B14F-4D97-AF65-F5344CB8AC3E}">
        <p14:creationId xmlns:p14="http://schemas.microsoft.com/office/powerpoint/2010/main" val="683367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36154BA1-6ECF-2B3D-57A4-6AD525DF1B67}"/>
            </a:ext>
          </a:extLst>
        </p:cNvPr>
        <p:cNvGrpSpPr/>
        <p:nvPr/>
      </p:nvGrpSpPr>
      <p:grpSpPr>
        <a:xfrm>
          <a:off x="0" y="0"/>
          <a:ext cx="0" cy="0"/>
          <a:chOff x="0" y="0"/>
          <a:chExt cx="0" cy="0"/>
        </a:xfrm>
      </p:grpSpPr>
      <p:sp>
        <p:nvSpPr>
          <p:cNvPr id="224" name="Google Shape;224;p35">
            <a:extLst>
              <a:ext uri="{FF2B5EF4-FFF2-40B4-BE49-F238E27FC236}">
                <a16:creationId xmlns:a16="http://schemas.microsoft.com/office/drawing/2014/main" id="{D8DB7A38-B18D-4E98-CEAD-891893EB3A4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solidFill>
                  <a:srgbClr val="263355"/>
                </a:solidFill>
              </a:rPr>
              <a:t>Examples of Local Planners</a:t>
            </a:r>
            <a:endParaRPr dirty="0"/>
          </a:p>
          <a:p>
            <a:pPr marL="0" lvl="0" indent="0" algn="l" rtl="0">
              <a:spcBef>
                <a:spcPts val="0"/>
              </a:spcBef>
              <a:spcAft>
                <a:spcPts val="0"/>
              </a:spcAft>
              <a:buNone/>
            </a:pPr>
            <a:endParaRPr dirty="0"/>
          </a:p>
        </p:txBody>
      </p:sp>
      <p:sp>
        <p:nvSpPr>
          <p:cNvPr id="225" name="Google Shape;225;p35">
            <a:extLst>
              <a:ext uri="{FF2B5EF4-FFF2-40B4-BE49-F238E27FC236}">
                <a16:creationId xmlns:a16="http://schemas.microsoft.com/office/drawing/2014/main" id="{3B8BFCA2-8D93-F429-746C-AC35E4B47660}"/>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lvl="0">
              <a:buChar char="-"/>
            </a:pPr>
            <a:r>
              <a:rPr lang="en" dirty="0"/>
              <a:t>Integrated discretized control that gets “closest” to the sampled state</a:t>
            </a:r>
            <a:endParaRPr dirty="0"/>
          </a:p>
        </p:txBody>
      </p:sp>
      <p:pic>
        <p:nvPicPr>
          <p:cNvPr id="9" name="Picture 8">
            <a:extLst>
              <a:ext uri="{FF2B5EF4-FFF2-40B4-BE49-F238E27FC236}">
                <a16:creationId xmlns:a16="http://schemas.microsoft.com/office/drawing/2014/main" id="{3DA7D216-5B81-FF14-C088-F2F4C9BA5BE8}"/>
              </a:ext>
            </a:extLst>
          </p:cNvPr>
          <p:cNvPicPr>
            <a:picLocks noChangeAspect="1"/>
          </p:cNvPicPr>
          <p:nvPr/>
        </p:nvPicPr>
        <p:blipFill>
          <a:blip r:embed="rId3"/>
          <a:stretch>
            <a:fillRect/>
          </a:stretch>
        </p:blipFill>
        <p:spPr>
          <a:xfrm>
            <a:off x="307901" y="2083575"/>
            <a:ext cx="2945523" cy="2807143"/>
          </a:xfrm>
          <a:prstGeom prst="rect">
            <a:avLst/>
          </a:prstGeom>
        </p:spPr>
      </p:pic>
      <p:pic>
        <p:nvPicPr>
          <p:cNvPr id="11" name="Picture 10">
            <a:extLst>
              <a:ext uri="{FF2B5EF4-FFF2-40B4-BE49-F238E27FC236}">
                <a16:creationId xmlns:a16="http://schemas.microsoft.com/office/drawing/2014/main" id="{86196587-3CCD-3FB8-4FCC-8A0AC56E9A92}"/>
              </a:ext>
            </a:extLst>
          </p:cNvPr>
          <p:cNvPicPr>
            <a:picLocks noChangeAspect="1"/>
          </p:cNvPicPr>
          <p:nvPr/>
        </p:nvPicPr>
        <p:blipFill>
          <a:blip r:embed="rId4"/>
          <a:stretch>
            <a:fillRect/>
          </a:stretch>
        </p:blipFill>
        <p:spPr>
          <a:xfrm>
            <a:off x="3193826" y="1988506"/>
            <a:ext cx="2885441" cy="2997280"/>
          </a:xfrm>
          <a:prstGeom prst="rect">
            <a:avLst/>
          </a:prstGeom>
        </p:spPr>
      </p:pic>
      <p:pic>
        <p:nvPicPr>
          <p:cNvPr id="13" name="Picture 12">
            <a:extLst>
              <a:ext uri="{FF2B5EF4-FFF2-40B4-BE49-F238E27FC236}">
                <a16:creationId xmlns:a16="http://schemas.microsoft.com/office/drawing/2014/main" id="{AD7769C9-185F-96C4-7174-21BDFDBA2CD1}"/>
              </a:ext>
            </a:extLst>
          </p:cNvPr>
          <p:cNvPicPr>
            <a:picLocks noChangeAspect="1"/>
          </p:cNvPicPr>
          <p:nvPr/>
        </p:nvPicPr>
        <p:blipFill>
          <a:blip r:embed="rId5"/>
          <a:stretch>
            <a:fillRect/>
          </a:stretch>
        </p:blipFill>
        <p:spPr>
          <a:xfrm>
            <a:off x="5977476" y="1988506"/>
            <a:ext cx="2885441" cy="2997280"/>
          </a:xfrm>
          <a:prstGeom prst="rect">
            <a:avLst/>
          </a:prstGeom>
        </p:spPr>
      </p:pic>
      <p:sp>
        <p:nvSpPr>
          <p:cNvPr id="14" name="Google Shape;80;p16">
            <a:extLst>
              <a:ext uri="{FF2B5EF4-FFF2-40B4-BE49-F238E27FC236}">
                <a16:creationId xmlns:a16="http://schemas.microsoft.com/office/drawing/2014/main" id="{EE662DF7-8C10-BFEF-5C2A-435D71FBA3CB}"/>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13</a:t>
            </a:r>
            <a:endParaRPr lang="en-MY" dirty="0"/>
          </a:p>
        </p:txBody>
      </p:sp>
      <p:cxnSp>
        <p:nvCxnSpPr>
          <p:cNvPr id="3" name="Straight Arrow Connector 2">
            <a:extLst>
              <a:ext uri="{FF2B5EF4-FFF2-40B4-BE49-F238E27FC236}">
                <a16:creationId xmlns:a16="http://schemas.microsoft.com/office/drawing/2014/main" id="{27A42E76-9B3D-A3D1-2E3D-185B5D8E9AC5}"/>
              </a:ext>
            </a:extLst>
          </p:cNvPr>
          <p:cNvCxnSpPr>
            <a:cxnSpLocks/>
          </p:cNvCxnSpPr>
          <p:nvPr/>
        </p:nvCxnSpPr>
        <p:spPr>
          <a:xfrm flipH="1">
            <a:off x="6270171" y="3657600"/>
            <a:ext cx="979715" cy="6531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25;p35">
            <a:extLst>
              <a:ext uri="{FF2B5EF4-FFF2-40B4-BE49-F238E27FC236}">
                <a16:creationId xmlns:a16="http://schemas.microsoft.com/office/drawing/2014/main" id="{B3145501-8D09-B50D-DED0-A2944226AEF9}"/>
              </a:ext>
            </a:extLst>
          </p:cNvPr>
          <p:cNvSpPr txBox="1">
            <a:spLocks/>
          </p:cNvSpPr>
          <p:nvPr/>
        </p:nvSpPr>
        <p:spPr>
          <a:xfrm>
            <a:off x="5214036" y="4407822"/>
            <a:ext cx="2035849" cy="6439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MY" b="1" dirty="0">
                <a:solidFill>
                  <a:srgbClr val="FF0000"/>
                </a:solidFill>
              </a:rPr>
              <a:t>Backward Right</a:t>
            </a:r>
          </a:p>
        </p:txBody>
      </p:sp>
    </p:spTree>
    <p:extLst>
      <p:ext uri="{BB962C8B-B14F-4D97-AF65-F5344CB8AC3E}">
        <p14:creationId xmlns:p14="http://schemas.microsoft.com/office/powerpoint/2010/main" val="3590792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rgbClr val="263355"/>
                </a:solidFill>
              </a:rPr>
              <a:t>Examples of Local Planners</a:t>
            </a:r>
            <a:endParaRPr/>
          </a:p>
          <a:p>
            <a:pPr marL="0" lvl="0" indent="0" algn="l" rtl="0">
              <a:spcBef>
                <a:spcPts val="0"/>
              </a:spcBef>
              <a:spcAft>
                <a:spcPts val="0"/>
              </a:spcAft>
              <a:buNone/>
            </a:pPr>
            <a:endParaRPr/>
          </a:p>
        </p:txBody>
      </p:sp>
      <p:sp>
        <p:nvSpPr>
          <p:cNvPr id="234" name="Google Shape;23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Straight-line path for kinematic, fully actuated robots</a:t>
            </a:r>
            <a:endParaRPr dirty="0"/>
          </a:p>
          <a:p>
            <a:pPr lvl="0">
              <a:buChar char="-"/>
            </a:pPr>
            <a:r>
              <a:rPr lang="en" dirty="0"/>
              <a:t>Integrated discretized control that gets “closest” to the sampled state</a:t>
            </a:r>
            <a:endParaRPr dirty="0"/>
          </a:p>
        </p:txBody>
      </p:sp>
      <p:pic>
        <p:nvPicPr>
          <p:cNvPr id="5" name="Picture 4">
            <a:extLst>
              <a:ext uri="{FF2B5EF4-FFF2-40B4-BE49-F238E27FC236}">
                <a16:creationId xmlns:a16="http://schemas.microsoft.com/office/drawing/2014/main" id="{32B093A1-D81C-3FF3-75D7-003E6648DA56}"/>
              </a:ext>
            </a:extLst>
          </p:cNvPr>
          <p:cNvPicPr>
            <a:picLocks noChangeAspect="1"/>
          </p:cNvPicPr>
          <p:nvPr/>
        </p:nvPicPr>
        <p:blipFill>
          <a:blip r:embed="rId3"/>
          <a:stretch>
            <a:fillRect/>
          </a:stretch>
        </p:blipFill>
        <p:spPr>
          <a:xfrm>
            <a:off x="1149860" y="2221628"/>
            <a:ext cx="3209925" cy="2152650"/>
          </a:xfrm>
          <a:prstGeom prst="rect">
            <a:avLst/>
          </a:prstGeom>
        </p:spPr>
      </p:pic>
      <p:pic>
        <p:nvPicPr>
          <p:cNvPr id="6" name="Picture 5">
            <a:extLst>
              <a:ext uri="{FF2B5EF4-FFF2-40B4-BE49-F238E27FC236}">
                <a16:creationId xmlns:a16="http://schemas.microsoft.com/office/drawing/2014/main" id="{6E45A4D6-5B18-C8FB-F16A-9E89EFCC2A45}"/>
              </a:ext>
            </a:extLst>
          </p:cNvPr>
          <p:cNvPicPr>
            <a:picLocks noChangeAspect="1"/>
          </p:cNvPicPr>
          <p:nvPr/>
        </p:nvPicPr>
        <p:blipFill>
          <a:blip r:embed="rId4"/>
          <a:stretch>
            <a:fillRect/>
          </a:stretch>
        </p:blipFill>
        <p:spPr>
          <a:xfrm>
            <a:off x="4955500" y="1927297"/>
            <a:ext cx="2355676" cy="2446981"/>
          </a:xfrm>
          <a:prstGeom prst="rect">
            <a:avLst/>
          </a:prstGeom>
        </p:spPr>
      </p:pic>
      <p:sp>
        <p:nvSpPr>
          <p:cNvPr id="7" name="Google Shape;80;p16">
            <a:extLst>
              <a:ext uri="{FF2B5EF4-FFF2-40B4-BE49-F238E27FC236}">
                <a16:creationId xmlns:a16="http://schemas.microsoft.com/office/drawing/2014/main" id="{FE52AB80-B9EF-3314-761B-EE798279A474}"/>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14</a:t>
            </a:r>
            <a:endParaRPr lang="en-MY"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1: Roll The Dice (Sampling)</a:t>
            </a:r>
            <a:endParaRPr/>
          </a:p>
        </p:txBody>
      </p:sp>
      <p:sp>
        <p:nvSpPr>
          <p:cNvPr id="262" name="Google Shape;262;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err="1"/>
              <a:t>X_rand</a:t>
            </a:r>
            <a:r>
              <a:rPr lang="en-US" dirty="0"/>
              <a:t>             RANDOM_STATE()</a:t>
            </a:r>
            <a:endParaRPr dirty="0"/>
          </a:p>
        </p:txBody>
      </p:sp>
      <p:sp>
        <p:nvSpPr>
          <p:cNvPr id="2" name="Google Shape;80;p16">
            <a:extLst>
              <a:ext uri="{FF2B5EF4-FFF2-40B4-BE49-F238E27FC236}">
                <a16:creationId xmlns:a16="http://schemas.microsoft.com/office/drawing/2014/main" id="{45F6F764-51CE-EA3D-736C-363C3C0D9634}"/>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15</a:t>
            </a:r>
            <a:endParaRPr lang="en-MY" dirty="0"/>
          </a:p>
        </p:txBody>
      </p:sp>
      <p:cxnSp>
        <p:nvCxnSpPr>
          <p:cNvPr id="7" name="Straight Arrow Connector 6">
            <a:extLst>
              <a:ext uri="{FF2B5EF4-FFF2-40B4-BE49-F238E27FC236}">
                <a16:creationId xmlns:a16="http://schemas.microsoft.com/office/drawing/2014/main" id="{3D36DF1F-354F-D85E-2065-A51A3FA89750}"/>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8C278BDC-0092-A9DD-1F32-778C9BE21806}"/>
              </a:ext>
            </a:extLst>
          </p:cNvPr>
          <p:cNvPicPr>
            <a:picLocks noChangeAspect="1"/>
          </p:cNvPicPr>
          <p:nvPr/>
        </p:nvPicPr>
        <p:blipFill>
          <a:blip r:embed="rId3"/>
          <a:stretch>
            <a:fillRect/>
          </a:stretch>
        </p:blipFill>
        <p:spPr>
          <a:xfrm>
            <a:off x="1857149" y="1937047"/>
            <a:ext cx="5456827" cy="254741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D9681C6D-3837-75C6-7F75-B0C7BF40AF8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592D232-F5B0-BDAA-7708-D47557D6FEA8}"/>
              </a:ext>
            </a:extLst>
          </p:cNvPr>
          <p:cNvPicPr>
            <a:picLocks noChangeAspect="1"/>
          </p:cNvPicPr>
          <p:nvPr/>
        </p:nvPicPr>
        <p:blipFill>
          <a:blip r:embed="rId3"/>
          <a:stretch>
            <a:fillRect/>
          </a:stretch>
        </p:blipFill>
        <p:spPr>
          <a:xfrm>
            <a:off x="1850315" y="1934163"/>
            <a:ext cx="5449599" cy="2550305"/>
          </a:xfrm>
          <a:prstGeom prst="rect">
            <a:avLst/>
          </a:prstGeom>
        </p:spPr>
      </p:pic>
      <p:sp>
        <p:nvSpPr>
          <p:cNvPr id="261" name="Google Shape;261;p40">
            <a:extLst>
              <a:ext uri="{FF2B5EF4-FFF2-40B4-BE49-F238E27FC236}">
                <a16:creationId xmlns:a16="http://schemas.microsoft.com/office/drawing/2014/main" id="{FE014D50-83DC-05D1-9C94-86EB2E9A25A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1: Roll The Dice (Sampling)</a:t>
            </a:r>
            <a:endParaRPr/>
          </a:p>
        </p:txBody>
      </p:sp>
      <p:sp>
        <p:nvSpPr>
          <p:cNvPr id="262" name="Google Shape;262;p40">
            <a:extLst>
              <a:ext uri="{FF2B5EF4-FFF2-40B4-BE49-F238E27FC236}">
                <a16:creationId xmlns:a16="http://schemas.microsoft.com/office/drawing/2014/main" id="{8B9DBF2F-F4C6-F87C-2248-3677555CDC72}"/>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err="1"/>
              <a:t>X_rand</a:t>
            </a:r>
            <a:r>
              <a:rPr lang="en-US" dirty="0"/>
              <a:t>             RANDOM_STATE()</a:t>
            </a:r>
            <a:endParaRPr dirty="0"/>
          </a:p>
        </p:txBody>
      </p:sp>
      <p:sp>
        <p:nvSpPr>
          <p:cNvPr id="2" name="Google Shape;80;p16">
            <a:extLst>
              <a:ext uri="{FF2B5EF4-FFF2-40B4-BE49-F238E27FC236}">
                <a16:creationId xmlns:a16="http://schemas.microsoft.com/office/drawing/2014/main" id="{A4498B00-B6F9-A6C3-7673-01363530DF53}"/>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15</a:t>
            </a:r>
            <a:endParaRPr lang="en-MY" dirty="0"/>
          </a:p>
        </p:txBody>
      </p:sp>
      <p:cxnSp>
        <p:nvCxnSpPr>
          <p:cNvPr id="7" name="Straight Arrow Connector 6">
            <a:extLst>
              <a:ext uri="{FF2B5EF4-FFF2-40B4-BE49-F238E27FC236}">
                <a16:creationId xmlns:a16="http://schemas.microsoft.com/office/drawing/2014/main" id="{A7C73CB4-2F63-509C-200D-D442B478A179}"/>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1" name="Picture 2" descr="Random Dice!">
            <a:extLst>
              <a:ext uri="{FF2B5EF4-FFF2-40B4-BE49-F238E27FC236}">
                <a16:creationId xmlns:a16="http://schemas.microsoft.com/office/drawing/2014/main" id="{B86A5ABC-3D05-4FD2-6E10-BBBB05D7C6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512" y="3259449"/>
            <a:ext cx="1313752" cy="129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850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BFD381CA-249F-D86E-954A-DBA939AAA6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57AFB2-BBED-3058-48BB-F5E029238DFD}"/>
              </a:ext>
            </a:extLst>
          </p:cNvPr>
          <p:cNvPicPr>
            <a:picLocks noChangeAspect="1"/>
          </p:cNvPicPr>
          <p:nvPr/>
        </p:nvPicPr>
        <p:blipFill>
          <a:blip r:embed="rId3"/>
          <a:stretch>
            <a:fillRect/>
          </a:stretch>
        </p:blipFill>
        <p:spPr>
          <a:xfrm>
            <a:off x="1844086" y="1934163"/>
            <a:ext cx="5449598" cy="2590572"/>
          </a:xfrm>
          <a:prstGeom prst="rect">
            <a:avLst/>
          </a:prstGeom>
        </p:spPr>
      </p:pic>
      <p:sp>
        <p:nvSpPr>
          <p:cNvPr id="261" name="Google Shape;261;p40">
            <a:extLst>
              <a:ext uri="{FF2B5EF4-FFF2-40B4-BE49-F238E27FC236}">
                <a16:creationId xmlns:a16="http://schemas.microsoft.com/office/drawing/2014/main" id="{9F5BD4C5-E925-010A-E270-33CA8E8CFB0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1: Roll The Dice (Sampling)</a:t>
            </a:r>
            <a:endParaRPr/>
          </a:p>
        </p:txBody>
      </p:sp>
      <p:sp>
        <p:nvSpPr>
          <p:cNvPr id="262" name="Google Shape;262;p40">
            <a:extLst>
              <a:ext uri="{FF2B5EF4-FFF2-40B4-BE49-F238E27FC236}">
                <a16:creationId xmlns:a16="http://schemas.microsoft.com/office/drawing/2014/main" id="{B0B4F5AD-A4CB-DE1B-54F7-61E67B989711}"/>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err="1"/>
              <a:t>X_rand</a:t>
            </a:r>
            <a:r>
              <a:rPr lang="en-US" dirty="0"/>
              <a:t>             RANDOM_STATE()</a:t>
            </a:r>
            <a:endParaRPr dirty="0"/>
          </a:p>
        </p:txBody>
      </p:sp>
      <p:sp>
        <p:nvSpPr>
          <p:cNvPr id="2" name="Google Shape;80;p16">
            <a:extLst>
              <a:ext uri="{FF2B5EF4-FFF2-40B4-BE49-F238E27FC236}">
                <a16:creationId xmlns:a16="http://schemas.microsoft.com/office/drawing/2014/main" id="{0D557172-8DAB-2E23-C836-169A9FE21A53}"/>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15</a:t>
            </a:r>
            <a:endParaRPr lang="en-MY" dirty="0"/>
          </a:p>
        </p:txBody>
      </p:sp>
      <p:cxnSp>
        <p:nvCxnSpPr>
          <p:cNvPr id="7" name="Straight Arrow Connector 6">
            <a:extLst>
              <a:ext uri="{FF2B5EF4-FFF2-40B4-BE49-F238E27FC236}">
                <a16:creationId xmlns:a16="http://schemas.microsoft.com/office/drawing/2014/main" id="{E057338A-7BB8-ED0D-725B-CBEAB588569C}"/>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1" name="Picture 2" descr="Random Dice!">
            <a:extLst>
              <a:ext uri="{FF2B5EF4-FFF2-40B4-BE49-F238E27FC236}">
                <a16:creationId xmlns:a16="http://schemas.microsoft.com/office/drawing/2014/main" id="{543DC522-7F3F-C04C-1BF1-6107C8877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512" y="3259449"/>
            <a:ext cx="1313752" cy="129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999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237947E7-F10C-77F1-F45E-D855D205E615}"/>
            </a:ext>
          </a:extLst>
        </p:cNvPr>
        <p:cNvGrpSpPr/>
        <p:nvPr/>
      </p:nvGrpSpPr>
      <p:grpSpPr>
        <a:xfrm>
          <a:off x="0" y="0"/>
          <a:ext cx="0" cy="0"/>
          <a:chOff x="0" y="0"/>
          <a:chExt cx="0" cy="0"/>
        </a:xfrm>
      </p:grpSpPr>
      <p:sp>
        <p:nvSpPr>
          <p:cNvPr id="261" name="Google Shape;261;p40">
            <a:extLst>
              <a:ext uri="{FF2B5EF4-FFF2-40B4-BE49-F238E27FC236}">
                <a16:creationId xmlns:a16="http://schemas.microsoft.com/office/drawing/2014/main" id="{7C71DB32-80DB-A9A3-4EBC-70B5FCD0A82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1: Roll The Dice (Sampling)</a:t>
            </a:r>
            <a:endParaRPr/>
          </a:p>
        </p:txBody>
      </p:sp>
      <p:sp>
        <p:nvSpPr>
          <p:cNvPr id="262" name="Google Shape;262;p40">
            <a:extLst>
              <a:ext uri="{FF2B5EF4-FFF2-40B4-BE49-F238E27FC236}">
                <a16:creationId xmlns:a16="http://schemas.microsoft.com/office/drawing/2014/main" id="{BB9E1EC0-8145-E6D2-1A16-56B9AA2D7625}"/>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err="1"/>
              <a:t>X_rand</a:t>
            </a:r>
            <a:r>
              <a:rPr lang="en-US" dirty="0"/>
              <a:t>             RANDOM_STATE()</a:t>
            </a:r>
            <a:endParaRPr dirty="0"/>
          </a:p>
        </p:txBody>
      </p:sp>
      <p:sp>
        <p:nvSpPr>
          <p:cNvPr id="2" name="Google Shape;80;p16">
            <a:extLst>
              <a:ext uri="{FF2B5EF4-FFF2-40B4-BE49-F238E27FC236}">
                <a16:creationId xmlns:a16="http://schemas.microsoft.com/office/drawing/2014/main" id="{6AB252E7-5630-A0DA-195F-BEBA9246CC79}"/>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15</a:t>
            </a:r>
            <a:endParaRPr lang="en-MY" dirty="0"/>
          </a:p>
        </p:txBody>
      </p:sp>
      <p:pic>
        <p:nvPicPr>
          <p:cNvPr id="5" name="Picture 4">
            <a:extLst>
              <a:ext uri="{FF2B5EF4-FFF2-40B4-BE49-F238E27FC236}">
                <a16:creationId xmlns:a16="http://schemas.microsoft.com/office/drawing/2014/main" id="{4255E17D-4C35-5124-1E53-546B20B10D43}"/>
              </a:ext>
            </a:extLst>
          </p:cNvPr>
          <p:cNvPicPr>
            <a:picLocks noChangeAspect="1"/>
          </p:cNvPicPr>
          <p:nvPr/>
        </p:nvPicPr>
        <p:blipFill>
          <a:blip r:embed="rId3"/>
          <a:stretch>
            <a:fillRect/>
          </a:stretch>
        </p:blipFill>
        <p:spPr>
          <a:xfrm>
            <a:off x="1824042" y="1923563"/>
            <a:ext cx="5485728" cy="2560905"/>
          </a:xfrm>
          <a:prstGeom prst="rect">
            <a:avLst/>
          </a:prstGeom>
        </p:spPr>
      </p:pic>
      <p:cxnSp>
        <p:nvCxnSpPr>
          <p:cNvPr id="7" name="Straight Arrow Connector 6">
            <a:extLst>
              <a:ext uri="{FF2B5EF4-FFF2-40B4-BE49-F238E27FC236}">
                <a16:creationId xmlns:a16="http://schemas.microsoft.com/office/drawing/2014/main" id="{C32733BA-9130-9F03-F452-96718F4F3726}"/>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5118408C-C9B0-D388-7323-E5B518828FEA}"/>
              </a:ext>
            </a:extLst>
          </p:cNvPr>
          <p:cNvSpPr txBox="1"/>
          <p:nvPr/>
        </p:nvSpPr>
        <p:spPr>
          <a:xfrm>
            <a:off x="5382959" y="3917829"/>
            <a:ext cx="2007281" cy="307777"/>
          </a:xfrm>
          <a:prstGeom prst="rect">
            <a:avLst/>
          </a:prstGeom>
          <a:noFill/>
        </p:spPr>
        <p:txBody>
          <a:bodyPr wrap="none" rtlCol="0">
            <a:spAutoFit/>
          </a:bodyPr>
          <a:lstStyle/>
          <a:p>
            <a:r>
              <a:rPr lang="en-US" dirty="0">
                <a:solidFill>
                  <a:schemeClr val="bg1"/>
                </a:solidFill>
              </a:rPr>
              <a:t>Pick a spot. Anywhere.</a:t>
            </a:r>
          </a:p>
        </p:txBody>
      </p:sp>
      <p:cxnSp>
        <p:nvCxnSpPr>
          <p:cNvPr id="9" name="Straight Arrow Connector 8">
            <a:extLst>
              <a:ext uri="{FF2B5EF4-FFF2-40B4-BE49-F238E27FC236}">
                <a16:creationId xmlns:a16="http://schemas.microsoft.com/office/drawing/2014/main" id="{5ECC1A40-0BB5-FD5E-F5AC-7DA293CC3760}"/>
              </a:ext>
            </a:extLst>
          </p:cNvPr>
          <p:cNvCxnSpPr>
            <a:cxnSpLocks/>
          </p:cNvCxnSpPr>
          <p:nvPr/>
        </p:nvCxnSpPr>
        <p:spPr>
          <a:xfrm flipH="1" flipV="1">
            <a:off x="6090765" y="3356306"/>
            <a:ext cx="295835" cy="5503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Random Dice!">
            <a:extLst>
              <a:ext uri="{FF2B5EF4-FFF2-40B4-BE49-F238E27FC236}">
                <a16:creationId xmlns:a16="http://schemas.microsoft.com/office/drawing/2014/main" id="{772D83C8-47F7-2482-A596-7A9F9A0A3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512" y="3259449"/>
            <a:ext cx="1313752" cy="129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629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2: Find the Closest Buddy</a:t>
            </a:r>
            <a:endParaRPr/>
          </a:p>
        </p:txBody>
      </p:sp>
      <p:sp>
        <p:nvSpPr>
          <p:cNvPr id="269" name="Google Shape;269;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n-US" dirty="0" err="1"/>
              <a:t>X_near</a:t>
            </a:r>
            <a:r>
              <a:rPr lang="en-US" dirty="0"/>
              <a:t>             NEAREST_NEIGHBOR(</a:t>
            </a:r>
            <a:r>
              <a:rPr lang="en-US" dirty="0" err="1"/>
              <a:t>X_rand</a:t>
            </a:r>
            <a:r>
              <a:rPr lang="en-US" dirty="0"/>
              <a:t>, Tree)</a:t>
            </a:r>
          </a:p>
          <a:p>
            <a:pPr marL="0" lvl="0" indent="0" algn="l" rtl="0">
              <a:spcBef>
                <a:spcPts val="0"/>
              </a:spcBef>
              <a:spcAft>
                <a:spcPts val="1200"/>
              </a:spcAft>
              <a:buNone/>
            </a:pPr>
            <a:endParaRPr dirty="0"/>
          </a:p>
        </p:txBody>
      </p:sp>
      <p:sp>
        <p:nvSpPr>
          <p:cNvPr id="2" name="Google Shape;80;p16">
            <a:extLst>
              <a:ext uri="{FF2B5EF4-FFF2-40B4-BE49-F238E27FC236}">
                <a16:creationId xmlns:a16="http://schemas.microsoft.com/office/drawing/2014/main" id="{FAB750A9-6FD9-773A-88D5-1039FD8BCB6B}"/>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15</a:t>
            </a:r>
            <a:endParaRPr lang="en-MY" dirty="0"/>
          </a:p>
        </p:txBody>
      </p:sp>
      <p:pic>
        <p:nvPicPr>
          <p:cNvPr id="5" name="Picture 4">
            <a:extLst>
              <a:ext uri="{FF2B5EF4-FFF2-40B4-BE49-F238E27FC236}">
                <a16:creationId xmlns:a16="http://schemas.microsoft.com/office/drawing/2014/main" id="{C70085B4-6466-3D4B-9F8E-B866EA205065}"/>
              </a:ext>
            </a:extLst>
          </p:cNvPr>
          <p:cNvPicPr>
            <a:picLocks noChangeAspect="1"/>
          </p:cNvPicPr>
          <p:nvPr/>
        </p:nvPicPr>
        <p:blipFill>
          <a:blip r:embed="rId3"/>
          <a:stretch>
            <a:fillRect/>
          </a:stretch>
        </p:blipFill>
        <p:spPr>
          <a:xfrm>
            <a:off x="1850315" y="1923563"/>
            <a:ext cx="5472247" cy="2560904"/>
          </a:xfrm>
          <a:prstGeom prst="rect">
            <a:avLst/>
          </a:prstGeom>
        </p:spPr>
      </p:pic>
      <p:cxnSp>
        <p:nvCxnSpPr>
          <p:cNvPr id="6" name="Straight Arrow Connector 5">
            <a:extLst>
              <a:ext uri="{FF2B5EF4-FFF2-40B4-BE49-F238E27FC236}">
                <a16:creationId xmlns:a16="http://schemas.microsoft.com/office/drawing/2014/main" id="{085692F5-AF8A-8EB8-9A87-1FC41EB75BE2}"/>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3: Don’t Jump, Just Step</a:t>
            </a:r>
            <a:endParaRPr/>
          </a:p>
        </p:txBody>
      </p:sp>
      <p:sp>
        <p:nvSpPr>
          <p:cNvPr id="276" name="Google Shape;276;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n-MY" dirty="0" err="1"/>
              <a:t>X_new</a:t>
            </a:r>
            <a:r>
              <a:rPr lang="en-MY" dirty="0"/>
              <a:t>             STEER(</a:t>
            </a:r>
            <a:r>
              <a:rPr lang="en-MY" dirty="0" err="1"/>
              <a:t>X_near</a:t>
            </a:r>
            <a:r>
              <a:rPr lang="en-MY" dirty="0"/>
              <a:t>, </a:t>
            </a:r>
            <a:r>
              <a:rPr lang="en-MY" dirty="0" err="1"/>
              <a:t>X_rand</a:t>
            </a:r>
            <a:r>
              <a:rPr lang="en-MY" dirty="0"/>
              <a:t>, </a:t>
            </a:r>
            <a:r>
              <a:rPr lang="en-MY" dirty="0" err="1"/>
              <a:t>step_size</a:t>
            </a:r>
            <a:r>
              <a:rPr lang="en-MY" dirty="0"/>
              <a:t>)</a:t>
            </a:r>
          </a:p>
          <a:p>
            <a:pPr marL="0" lvl="0" indent="0" algn="l" rtl="0">
              <a:spcBef>
                <a:spcPts val="0"/>
              </a:spcBef>
              <a:spcAft>
                <a:spcPts val="1200"/>
              </a:spcAft>
              <a:buNone/>
            </a:pPr>
            <a:endParaRPr dirty="0"/>
          </a:p>
        </p:txBody>
      </p:sp>
      <p:sp>
        <p:nvSpPr>
          <p:cNvPr id="2" name="Google Shape;80;p16">
            <a:extLst>
              <a:ext uri="{FF2B5EF4-FFF2-40B4-BE49-F238E27FC236}">
                <a16:creationId xmlns:a16="http://schemas.microsoft.com/office/drawing/2014/main" id="{A5B0D941-8CFD-69E6-678C-C1C687E0A2F2}"/>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16</a:t>
            </a:r>
            <a:endParaRPr lang="en-MY" dirty="0"/>
          </a:p>
        </p:txBody>
      </p:sp>
      <p:cxnSp>
        <p:nvCxnSpPr>
          <p:cNvPr id="3" name="Straight Arrow Connector 2">
            <a:extLst>
              <a:ext uri="{FF2B5EF4-FFF2-40B4-BE49-F238E27FC236}">
                <a16:creationId xmlns:a16="http://schemas.microsoft.com/office/drawing/2014/main" id="{CEBF2438-7A4A-44C5-89D5-E547EFB1E5DD}"/>
              </a:ext>
            </a:extLst>
          </p:cNvPr>
          <p:cNvCxnSpPr/>
          <p:nvPr/>
        </p:nvCxnSpPr>
        <p:spPr>
          <a:xfrm flipH="1">
            <a:off x="1258646" y="1399586"/>
            <a:ext cx="591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3E2118DB-59F7-B11F-B67B-76EA803BAF5E}"/>
              </a:ext>
            </a:extLst>
          </p:cNvPr>
          <p:cNvPicPr>
            <a:picLocks noChangeAspect="1"/>
          </p:cNvPicPr>
          <p:nvPr/>
        </p:nvPicPr>
        <p:blipFill>
          <a:blip r:embed="rId3"/>
          <a:stretch>
            <a:fillRect/>
          </a:stretch>
        </p:blipFill>
        <p:spPr>
          <a:xfrm>
            <a:off x="1850315" y="1923563"/>
            <a:ext cx="5443370" cy="2547390"/>
          </a:xfrm>
          <a:prstGeom prst="rect">
            <a:avLst/>
          </a:prstGeom>
        </p:spPr>
      </p:pic>
      <p:sp>
        <p:nvSpPr>
          <p:cNvPr id="4" name="TextBox 3">
            <a:extLst>
              <a:ext uri="{FF2B5EF4-FFF2-40B4-BE49-F238E27FC236}">
                <a16:creationId xmlns:a16="http://schemas.microsoft.com/office/drawing/2014/main" id="{7B78D087-4654-F9D9-E582-92B2CE876C8B}"/>
              </a:ext>
            </a:extLst>
          </p:cNvPr>
          <p:cNvSpPr txBox="1"/>
          <p:nvPr/>
        </p:nvSpPr>
        <p:spPr>
          <a:xfrm>
            <a:off x="5391707" y="2049840"/>
            <a:ext cx="1766830" cy="523220"/>
          </a:xfrm>
          <a:prstGeom prst="rect">
            <a:avLst/>
          </a:prstGeom>
          <a:noFill/>
        </p:spPr>
        <p:txBody>
          <a:bodyPr wrap="none" rtlCol="0">
            <a:spAutoFit/>
          </a:bodyPr>
          <a:lstStyle/>
          <a:p>
            <a:r>
              <a:rPr lang="en-US" dirty="0">
                <a:solidFill>
                  <a:schemeClr val="bg1"/>
                </a:solidFill>
              </a:rPr>
              <a:t>Move fixed distance</a:t>
            </a:r>
          </a:p>
          <a:p>
            <a:r>
              <a:rPr lang="en-US" dirty="0">
                <a:solidFill>
                  <a:schemeClr val="bg1"/>
                </a:solidFill>
              </a:rPr>
              <a:t>toward target.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Recap: Step 4: Watch Your Head</a:t>
            </a:r>
            <a:endParaRPr/>
          </a:p>
        </p:txBody>
      </p:sp>
      <p:sp>
        <p:nvSpPr>
          <p:cNvPr id="283" name="Google Shape;283;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If COLLISION_FREE(</a:t>
            </a:r>
            <a:r>
              <a:rPr lang="en-US" dirty="0" err="1"/>
              <a:t>X_tree</a:t>
            </a:r>
            <a:r>
              <a:rPr lang="en-US" dirty="0"/>
              <a:t>, </a:t>
            </a:r>
            <a:r>
              <a:rPr lang="en-US" dirty="0" err="1"/>
              <a:t>X_new</a:t>
            </a:r>
            <a:r>
              <a:rPr lang="en-US" dirty="0"/>
              <a:t>) then ADD</a:t>
            </a:r>
            <a:endParaRPr dirty="0"/>
          </a:p>
        </p:txBody>
      </p:sp>
      <p:sp>
        <p:nvSpPr>
          <p:cNvPr id="2" name="Google Shape;80;p16">
            <a:extLst>
              <a:ext uri="{FF2B5EF4-FFF2-40B4-BE49-F238E27FC236}">
                <a16:creationId xmlns:a16="http://schemas.microsoft.com/office/drawing/2014/main" id="{B637D6C6-90D4-3FD9-9398-8494A47238C0}"/>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17</a:t>
            </a:r>
            <a:endParaRPr lang="en-MY" dirty="0"/>
          </a:p>
        </p:txBody>
      </p:sp>
      <p:pic>
        <p:nvPicPr>
          <p:cNvPr id="6" name="Picture 5">
            <a:extLst>
              <a:ext uri="{FF2B5EF4-FFF2-40B4-BE49-F238E27FC236}">
                <a16:creationId xmlns:a16="http://schemas.microsoft.com/office/drawing/2014/main" id="{D994BD87-0682-2878-01C0-836436199B02}"/>
              </a:ext>
            </a:extLst>
          </p:cNvPr>
          <p:cNvPicPr>
            <a:picLocks noChangeAspect="1"/>
          </p:cNvPicPr>
          <p:nvPr/>
        </p:nvPicPr>
        <p:blipFill>
          <a:blip r:embed="rId3"/>
          <a:stretch>
            <a:fillRect/>
          </a:stretch>
        </p:blipFill>
        <p:spPr>
          <a:xfrm>
            <a:off x="1961805" y="1744819"/>
            <a:ext cx="5220390" cy="31073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Why It Works: The Voronoi Bias</a:t>
            </a:r>
            <a:endParaRPr/>
          </a:p>
        </p:txBody>
      </p:sp>
      <p:sp>
        <p:nvSpPr>
          <p:cNvPr id="290" name="Google Shape;290;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Large empty spaces = Large target probability</a:t>
            </a:r>
            <a:endParaRPr/>
          </a:p>
        </p:txBody>
      </p:sp>
      <p:pic>
        <p:nvPicPr>
          <p:cNvPr id="291" name="Google Shape;291;p44"/>
          <p:cNvPicPr preferRelativeResize="0"/>
          <p:nvPr/>
        </p:nvPicPr>
        <p:blipFill>
          <a:blip r:embed="rId3">
            <a:alphaModFix/>
          </a:blip>
          <a:stretch>
            <a:fillRect/>
          </a:stretch>
        </p:blipFill>
        <p:spPr>
          <a:xfrm>
            <a:off x="1100138" y="1745075"/>
            <a:ext cx="6943725" cy="2933700"/>
          </a:xfrm>
          <a:prstGeom prst="rect">
            <a:avLst/>
          </a:prstGeom>
          <a:noFill/>
          <a:ln>
            <a:noFill/>
          </a:ln>
        </p:spPr>
      </p:pic>
      <p:sp>
        <p:nvSpPr>
          <p:cNvPr id="2" name="Google Shape;80;p16">
            <a:extLst>
              <a:ext uri="{FF2B5EF4-FFF2-40B4-BE49-F238E27FC236}">
                <a16:creationId xmlns:a16="http://schemas.microsoft.com/office/drawing/2014/main" id="{8B7126CC-96D1-BB9E-5153-21397E119159}"/>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18</a:t>
            </a:r>
            <a:endParaRPr lang="en-MY"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263355"/>
                </a:solidFill>
              </a:rPr>
              <a:t>Improvement: RRT*</a:t>
            </a:r>
            <a:endParaRPr/>
          </a:p>
        </p:txBody>
      </p:sp>
      <p:sp>
        <p:nvSpPr>
          <p:cNvPr id="254" name="Google Shape;254;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5" name="Google Shape;255;p39"/>
          <p:cNvPicPr preferRelativeResize="0"/>
          <p:nvPr/>
        </p:nvPicPr>
        <p:blipFill rotWithShape="1">
          <a:blip r:embed="rId3">
            <a:alphaModFix/>
          </a:blip>
          <a:srcRect t="6792" r="3128" b="5565"/>
          <a:stretch/>
        </p:blipFill>
        <p:spPr>
          <a:xfrm>
            <a:off x="495325" y="1659400"/>
            <a:ext cx="3649528" cy="2739925"/>
          </a:xfrm>
          <a:prstGeom prst="rect">
            <a:avLst/>
          </a:prstGeom>
          <a:noFill/>
          <a:ln>
            <a:noFill/>
          </a:ln>
        </p:spPr>
      </p:pic>
      <p:pic>
        <p:nvPicPr>
          <p:cNvPr id="256" name="Google Shape;256;p39"/>
          <p:cNvPicPr preferRelativeResize="0"/>
          <p:nvPr/>
        </p:nvPicPr>
        <p:blipFill>
          <a:blip r:embed="rId4">
            <a:alphaModFix/>
          </a:blip>
          <a:stretch>
            <a:fillRect/>
          </a:stretch>
        </p:blipFill>
        <p:spPr>
          <a:xfrm>
            <a:off x="4144841" y="1659400"/>
            <a:ext cx="4079808" cy="2739924"/>
          </a:xfrm>
          <a:prstGeom prst="rect">
            <a:avLst/>
          </a:prstGeom>
          <a:noFill/>
          <a:ln>
            <a:noFill/>
          </a:ln>
        </p:spPr>
      </p:pic>
      <p:sp>
        <p:nvSpPr>
          <p:cNvPr id="2" name="Google Shape;80;p16">
            <a:extLst>
              <a:ext uri="{FF2B5EF4-FFF2-40B4-BE49-F238E27FC236}">
                <a16:creationId xmlns:a16="http://schemas.microsoft.com/office/drawing/2014/main" id="{3307901C-B35F-5D79-2B75-29E854830996}"/>
              </a:ext>
            </a:extLst>
          </p:cNvPr>
          <p:cNvSpPr txBox="1">
            <a:spLocks/>
          </p:cNvSpPr>
          <p:nvPr/>
        </p:nvSpPr>
        <p:spPr>
          <a:xfrm>
            <a:off x="2710912" y="4280352"/>
            <a:ext cx="5361934" cy="837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Image taken from </a:t>
            </a:r>
          </a:p>
          <a:p>
            <a:pPr marL="0" indent="0" algn="r">
              <a:buNone/>
            </a:pPr>
            <a:r>
              <a:rPr lang="en-MY" dirty="0"/>
              <a:t>https://www.youtube.com/watch?v=Ao7p_xiUu4s</a:t>
            </a:r>
          </a:p>
        </p:txBody>
      </p:sp>
      <p:sp>
        <p:nvSpPr>
          <p:cNvPr id="3" name="Google Shape;80;p16">
            <a:extLst>
              <a:ext uri="{FF2B5EF4-FFF2-40B4-BE49-F238E27FC236}">
                <a16:creationId xmlns:a16="http://schemas.microsoft.com/office/drawing/2014/main" id="{6EEB02B4-424B-2C9A-7B72-1C1BBE5BE589}"/>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19</a:t>
            </a:r>
            <a:endParaRPr lang="en-MY"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rgbClr val="263355"/>
                </a:solidFill>
              </a:rPr>
              <a:t>A Live Visualization of the RRT Algorithm</a:t>
            </a:r>
            <a:endParaRPr dirty="0"/>
          </a:p>
        </p:txBody>
      </p:sp>
      <p:pic>
        <p:nvPicPr>
          <p:cNvPr id="3" name="Picture 2">
            <a:extLst>
              <a:ext uri="{FF2B5EF4-FFF2-40B4-BE49-F238E27FC236}">
                <a16:creationId xmlns:a16="http://schemas.microsoft.com/office/drawing/2014/main" id="{15909CAB-3312-B1BE-4E06-719724778CAA}"/>
              </a:ext>
            </a:extLst>
          </p:cNvPr>
          <p:cNvPicPr>
            <a:picLocks noChangeAspect="1"/>
          </p:cNvPicPr>
          <p:nvPr/>
        </p:nvPicPr>
        <p:blipFill>
          <a:blip r:embed="rId3"/>
          <a:srcRect l="11361" t="9258" b="8907"/>
          <a:stretch>
            <a:fillRect/>
          </a:stretch>
        </p:blipFill>
        <p:spPr>
          <a:xfrm>
            <a:off x="470452" y="1017725"/>
            <a:ext cx="7879238" cy="3967895"/>
          </a:xfrm>
          <a:prstGeom prst="rect">
            <a:avLst/>
          </a:prstGeom>
        </p:spPr>
      </p:pic>
      <p:sp>
        <p:nvSpPr>
          <p:cNvPr id="4" name="Google Shape;80;p16">
            <a:extLst>
              <a:ext uri="{FF2B5EF4-FFF2-40B4-BE49-F238E27FC236}">
                <a16:creationId xmlns:a16="http://schemas.microsoft.com/office/drawing/2014/main" id="{E65B01D9-A062-78DD-D409-EF7FD6052A36}"/>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20</a:t>
            </a:r>
            <a:endParaRPr lang="en-MY"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6573F-4902-4B74-1B14-2A3F090B8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36026-9442-DA1A-75A9-4BEBA1DDE216}"/>
              </a:ext>
            </a:extLst>
          </p:cNvPr>
          <p:cNvSpPr>
            <a:spLocks noGrp="1"/>
          </p:cNvSpPr>
          <p:nvPr>
            <p:ph type="title"/>
          </p:nvPr>
        </p:nvSpPr>
        <p:spPr/>
        <p:txBody>
          <a:bodyPr>
            <a:normAutofit fontScale="90000"/>
          </a:bodyPr>
          <a:lstStyle/>
          <a:p>
            <a:r>
              <a:rPr lang="en" b="1" dirty="0">
                <a:solidFill>
                  <a:srgbClr val="263355"/>
                </a:solidFill>
              </a:rPr>
              <a:t>Possible Issue and Solution</a:t>
            </a:r>
            <a:endParaRPr lang="en-US" dirty="0"/>
          </a:p>
        </p:txBody>
      </p:sp>
      <p:sp>
        <p:nvSpPr>
          <p:cNvPr id="3" name="Text Placeholder 2">
            <a:extLst>
              <a:ext uri="{FF2B5EF4-FFF2-40B4-BE49-F238E27FC236}">
                <a16:creationId xmlns:a16="http://schemas.microsoft.com/office/drawing/2014/main" id="{A2C89254-E2C1-84CA-DB58-704E565F4CEA}"/>
              </a:ext>
            </a:extLst>
          </p:cNvPr>
          <p:cNvSpPr>
            <a:spLocks noGrp="1"/>
          </p:cNvSpPr>
          <p:nvPr>
            <p:ph type="body" idx="1"/>
          </p:nvPr>
        </p:nvSpPr>
        <p:spPr/>
        <p:txBody>
          <a:bodyPr>
            <a:normAutofit/>
          </a:bodyPr>
          <a:lstStyle/>
          <a:p>
            <a:r>
              <a:rPr lang="en-US" dirty="0"/>
              <a:t>Problem: Hard to fit into narrow passage</a:t>
            </a:r>
          </a:p>
          <a:p>
            <a:r>
              <a:rPr lang="en-US" dirty="0"/>
              <a:t>Solution: Utilizing context-based biased batch sampling</a:t>
            </a:r>
          </a:p>
          <a:p>
            <a:endParaRPr lang="en-US" dirty="0"/>
          </a:p>
          <a:p>
            <a:endParaRPr lang="en-US" dirty="0"/>
          </a:p>
        </p:txBody>
      </p:sp>
      <p:sp>
        <p:nvSpPr>
          <p:cNvPr id="6" name="Google Shape;80;p16">
            <a:extLst>
              <a:ext uri="{FF2B5EF4-FFF2-40B4-BE49-F238E27FC236}">
                <a16:creationId xmlns:a16="http://schemas.microsoft.com/office/drawing/2014/main" id="{58E77D21-70A2-4FA5-35D2-64406B897DC1}"/>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21</a:t>
            </a:r>
            <a:endParaRPr lang="en-MY" dirty="0"/>
          </a:p>
        </p:txBody>
      </p:sp>
      <p:pic>
        <p:nvPicPr>
          <p:cNvPr id="8" name="Picture 7">
            <a:extLst>
              <a:ext uri="{FF2B5EF4-FFF2-40B4-BE49-F238E27FC236}">
                <a16:creationId xmlns:a16="http://schemas.microsoft.com/office/drawing/2014/main" id="{57172A7E-AFFA-2BAF-2F94-946E434C3135}"/>
              </a:ext>
            </a:extLst>
          </p:cNvPr>
          <p:cNvPicPr>
            <a:picLocks noChangeAspect="1"/>
          </p:cNvPicPr>
          <p:nvPr/>
        </p:nvPicPr>
        <p:blipFill>
          <a:blip r:embed="rId3"/>
          <a:stretch>
            <a:fillRect/>
          </a:stretch>
        </p:blipFill>
        <p:spPr>
          <a:xfrm>
            <a:off x="1481183" y="1987548"/>
            <a:ext cx="6181633" cy="1991233"/>
          </a:xfrm>
          <a:prstGeom prst="rect">
            <a:avLst/>
          </a:prstGeom>
        </p:spPr>
      </p:pic>
      <p:sp>
        <p:nvSpPr>
          <p:cNvPr id="10" name="TextBox 9">
            <a:extLst>
              <a:ext uri="{FF2B5EF4-FFF2-40B4-BE49-F238E27FC236}">
                <a16:creationId xmlns:a16="http://schemas.microsoft.com/office/drawing/2014/main" id="{D6A2DD01-486A-1F61-F939-CCB179BE3783}"/>
              </a:ext>
            </a:extLst>
          </p:cNvPr>
          <p:cNvSpPr txBox="1"/>
          <p:nvPr/>
        </p:nvSpPr>
        <p:spPr>
          <a:xfrm>
            <a:off x="311700" y="4113531"/>
            <a:ext cx="8837097" cy="738664"/>
          </a:xfrm>
          <a:prstGeom prst="rect">
            <a:avLst/>
          </a:prstGeom>
          <a:noFill/>
        </p:spPr>
        <p:txBody>
          <a:bodyPr wrap="square">
            <a:spAutoFit/>
          </a:bodyPr>
          <a:lstStyle/>
          <a:p>
            <a:r>
              <a:rPr lang="en-US" dirty="0"/>
              <a:t>L. Zhang et al., "CIT*: Context-Based Biased Batch-Sampling for Almost-Surely Asymptotically Optimal Motion Planning," 2025 IEEE/RSJ International Conference on Intelligent Robots and Systems (IROS), Hangzhou, China, 2025, pp. 4421-4428, </a:t>
            </a:r>
            <a:r>
              <a:rPr lang="en-US" dirty="0" err="1"/>
              <a:t>doi</a:t>
            </a:r>
            <a:r>
              <a:rPr lang="en-US" dirty="0"/>
              <a:t>: 10.1109/IROS60139.2025.11246858.</a:t>
            </a:r>
          </a:p>
        </p:txBody>
      </p:sp>
    </p:spTree>
    <p:extLst>
      <p:ext uri="{BB962C8B-B14F-4D97-AF65-F5344CB8AC3E}">
        <p14:creationId xmlns:p14="http://schemas.microsoft.com/office/powerpoint/2010/main" val="3618625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06ED-EAE0-3EFC-38EC-57DC26DA5002}"/>
              </a:ext>
            </a:extLst>
          </p:cNvPr>
          <p:cNvSpPr>
            <a:spLocks noGrp="1"/>
          </p:cNvSpPr>
          <p:nvPr>
            <p:ph type="title"/>
          </p:nvPr>
        </p:nvSpPr>
        <p:spPr/>
        <p:txBody>
          <a:bodyPr>
            <a:normAutofit fontScale="90000"/>
          </a:bodyPr>
          <a:lstStyle/>
          <a:p>
            <a:r>
              <a:rPr lang="en" b="1" dirty="0">
                <a:solidFill>
                  <a:srgbClr val="263355"/>
                </a:solidFill>
              </a:rPr>
              <a:t>Possible Improvements</a:t>
            </a:r>
            <a:endParaRPr lang="en-US" dirty="0"/>
          </a:p>
        </p:txBody>
      </p:sp>
      <p:sp>
        <p:nvSpPr>
          <p:cNvPr id="3" name="Text Placeholder 2">
            <a:extLst>
              <a:ext uri="{FF2B5EF4-FFF2-40B4-BE49-F238E27FC236}">
                <a16:creationId xmlns:a16="http://schemas.microsoft.com/office/drawing/2014/main" id="{8A0B3A75-07C4-A145-AF48-3856E8E77005}"/>
              </a:ext>
            </a:extLst>
          </p:cNvPr>
          <p:cNvSpPr>
            <a:spLocks noGrp="1"/>
          </p:cNvSpPr>
          <p:nvPr>
            <p:ph type="body" idx="1"/>
          </p:nvPr>
        </p:nvSpPr>
        <p:spPr/>
        <p:txBody>
          <a:bodyPr>
            <a:normAutofit/>
          </a:bodyPr>
          <a:lstStyle/>
          <a:p>
            <a:r>
              <a:rPr lang="en-US" dirty="0"/>
              <a:t>Use RRT Connect to grow trees from both ends (start and goal)</a:t>
            </a:r>
          </a:p>
          <a:p>
            <a:pPr lvl="1"/>
            <a:r>
              <a:rPr lang="en-US" dirty="0"/>
              <a:t>J. J. Kuffner and S. M. LaValle, "RRT-connect: An efficient approach to single-query path planning," Proceedings 2000 ICRA. Millennium Conference. IEEE International Conference on Robotics and Automation. Symposia Proceedings (Cat. No.00CH37065), San Francisco, CA, USA, 2000, pp. 995-1001 vol.2, </a:t>
            </a:r>
            <a:r>
              <a:rPr lang="en-US" dirty="0" err="1"/>
              <a:t>doi</a:t>
            </a:r>
            <a:r>
              <a:rPr lang="en-US" dirty="0"/>
              <a:t>: 10.1109/ROBOT.2000.844730.</a:t>
            </a:r>
          </a:p>
        </p:txBody>
      </p:sp>
      <p:pic>
        <p:nvPicPr>
          <p:cNvPr id="5" name="Picture 4">
            <a:extLst>
              <a:ext uri="{FF2B5EF4-FFF2-40B4-BE49-F238E27FC236}">
                <a16:creationId xmlns:a16="http://schemas.microsoft.com/office/drawing/2014/main" id="{C150364E-C88B-1C60-2C5B-E5D636B0AACB}"/>
              </a:ext>
            </a:extLst>
          </p:cNvPr>
          <p:cNvPicPr>
            <a:picLocks noChangeAspect="1"/>
          </p:cNvPicPr>
          <p:nvPr/>
        </p:nvPicPr>
        <p:blipFill>
          <a:blip r:embed="rId2"/>
          <a:stretch>
            <a:fillRect/>
          </a:stretch>
        </p:blipFill>
        <p:spPr>
          <a:xfrm>
            <a:off x="3452160" y="2571750"/>
            <a:ext cx="2239680" cy="2351664"/>
          </a:xfrm>
          <a:prstGeom prst="rect">
            <a:avLst/>
          </a:prstGeom>
        </p:spPr>
      </p:pic>
      <p:sp>
        <p:nvSpPr>
          <p:cNvPr id="6" name="Google Shape;80;p16">
            <a:extLst>
              <a:ext uri="{FF2B5EF4-FFF2-40B4-BE49-F238E27FC236}">
                <a16:creationId xmlns:a16="http://schemas.microsoft.com/office/drawing/2014/main" id="{CCCC62A7-1A8A-F3AF-EAB1-997E996FB5FF}"/>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21</a:t>
            </a:r>
            <a:endParaRPr lang="en-MY" dirty="0"/>
          </a:p>
        </p:txBody>
      </p:sp>
    </p:spTree>
    <p:extLst>
      <p:ext uri="{BB962C8B-B14F-4D97-AF65-F5344CB8AC3E}">
        <p14:creationId xmlns:p14="http://schemas.microsoft.com/office/powerpoint/2010/main" val="3469874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DFDE-8B00-897D-E167-95E0829DA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7892C-E396-F7C0-7B56-9813F348D9A4}"/>
              </a:ext>
            </a:extLst>
          </p:cNvPr>
          <p:cNvSpPr>
            <a:spLocks noGrp="1"/>
          </p:cNvSpPr>
          <p:nvPr>
            <p:ph type="title"/>
          </p:nvPr>
        </p:nvSpPr>
        <p:spPr/>
        <p:txBody>
          <a:bodyPr>
            <a:normAutofit fontScale="90000"/>
          </a:bodyPr>
          <a:lstStyle/>
          <a:p>
            <a:r>
              <a:rPr lang="en" b="1" dirty="0">
                <a:solidFill>
                  <a:srgbClr val="263355"/>
                </a:solidFill>
              </a:rPr>
              <a:t>Curious Question</a:t>
            </a:r>
            <a:endParaRPr lang="en-US" dirty="0"/>
          </a:p>
        </p:txBody>
      </p:sp>
      <p:sp>
        <p:nvSpPr>
          <p:cNvPr id="3" name="Text Placeholder 2">
            <a:extLst>
              <a:ext uri="{FF2B5EF4-FFF2-40B4-BE49-F238E27FC236}">
                <a16:creationId xmlns:a16="http://schemas.microsoft.com/office/drawing/2014/main" id="{3F7D342A-AD7B-8F6C-C46A-F2A3305C9A2F}"/>
              </a:ext>
            </a:extLst>
          </p:cNvPr>
          <p:cNvSpPr>
            <a:spLocks noGrp="1"/>
          </p:cNvSpPr>
          <p:nvPr>
            <p:ph type="body" idx="1"/>
          </p:nvPr>
        </p:nvSpPr>
        <p:spPr/>
        <p:txBody>
          <a:bodyPr>
            <a:normAutofit/>
          </a:bodyPr>
          <a:lstStyle/>
          <a:p>
            <a:r>
              <a:rPr lang="en-US" dirty="0"/>
              <a:t>Is there any specific hardware to accelerate the calculation of kinematics and robotic related algorithms?</a:t>
            </a:r>
          </a:p>
          <a:p>
            <a:r>
              <a:rPr lang="en-US" dirty="0"/>
              <a:t>My assumption is using Vector Processing Unit to accelerate Vector heavy calculations such as IK/FK/Jacobian.</a:t>
            </a:r>
          </a:p>
          <a:p>
            <a:endParaRPr lang="en-US" dirty="0"/>
          </a:p>
          <a:p>
            <a:r>
              <a:rPr lang="en-US" dirty="0"/>
              <a:t>How about motor controls at the joints?</a:t>
            </a:r>
          </a:p>
          <a:p>
            <a:pPr lvl="1"/>
            <a:r>
              <a:rPr lang="en-US" dirty="0"/>
              <a:t>Does the industry use off-the-shelf microcontrollers or are there application-specific designs?</a:t>
            </a:r>
          </a:p>
        </p:txBody>
      </p:sp>
      <p:sp>
        <p:nvSpPr>
          <p:cNvPr id="6" name="Google Shape;80;p16">
            <a:extLst>
              <a:ext uri="{FF2B5EF4-FFF2-40B4-BE49-F238E27FC236}">
                <a16:creationId xmlns:a16="http://schemas.microsoft.com/office/drawing/2014/main" id="{AF40971F-EFE3-3326-9BCC-375609740B2A}"/>
              </a:ext>
            </a:extLst>
          </p:cNvPr>
          <p:cNvSpPr txBox="1">
            <a:spLocks/>
          </p:cNvSpPr>
          <p:nvPr/>
        </p:nvSpPr>
        <p:spPr>
          <a:xfrm>
            <a:off x="7520786" y="4568875"/>
            <a:ext cx="1407726" cy="56663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r">
              <a:buFont typeface="Arial"/>
              <a:buNone/>
            </a:pPr>
            <a:r>
              <a:rPr lang="en-MY" dirty="0">
                <a:solidFill>
                  <a:srgbClr val="1A2850"/>
                </a:solidFill>
              </a:rPr>
              <a:t>21</a:t>
            </a:r>
            <a:endParaRPr lang="en-MY" dirty="0"/>
          </a:p>
        </p:txBody>
      </p:sp>
    </p:spTree>
    <p:extLst>
      <p:ext uri="{BB962C8B-B14F-4D97-AF65-F5344CB8AC3E}">
        <p14:creationId xmlns:p14="http://schemas.microsoft.com/office/powerpoint/2010/main" val="213422363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1138</TotalTime>
  <Words>2814</Words>
  <Application>Microsoft Office PowerPoint</Application>
  <PresentationFormat>On-screen Show (16:9)</PresentationFormat>
  <Paragraphs>248</Paragraphs>
  <Slides>37</Slides>
  <Notes>36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37</vt:i4>
      </vt:variant>
    </vt:vector>
  </HeadingPairs>
  <TitlesOfParts>
    <vt:vector size="39" baseType="lpstr">
      <vt:lpstr>Arial</vt:lpstr>
      <vt:lpstr>Simple Light</vt:lpstr>
      <vt:lpstr>RRT Algorithm Rapidly Exploring Random Tree</vt:lpstr>
      <vt:lpstr>The Mission </vt:lpstr>
      <vt:lpstr>The Mission </vt:lpstr>
      <vt:lpstr>The Mission </vt:lpstr>
      <vt:lpstr>The Mission </vt:lpstr>
      <vt:lpstr>The Mission </vt:lpstr>
      <vt:lpstr>Rapidly Exploring Random Tree (RRT) Algorithm</vt:lpstr>
      <vt:lpstr>Comparison between RRT and Random Walk</vt:lpstr>
      <vt:lpstr>Pseudocode of RRT Algorithm (1/2)</vt:lpstr>
      <vt:lpstr>Pseudocode of RRT Algorithm (1/2)</vt:lpstr>
      <vt:lpstr>Pseudocode of RRT Algorithm (1/2)</vt:lpstr>
      <vt:lpstr>Pseudocode of RRT Algorithm (1/2)</vt:lpstr>
      <vt:lpstr>Pseudocode of RRT Algorithm (1/2)</vt:lpstr>
      <vt:lpstr>Pseudocode of RRT Algorithm</vt:lpstr>
      <vt:lpstr>Which white car configuration is closest to blue?</vt:lpstr>
      <vt:lpstr>Which white car configuration is closest to blue?</vt:lpstr>
      <vt:lpstr>Which white car configuration is closest to blue?</vt:lpstr>
      <vt:lpstr>Pseudocode of RRT Algorithm </vt:lpstr>
      <vt:lpstr>Simple Local Planner: How to move? </vt:lpstr>
      <vt:lpstr>Examples of Local Planners </vt:lpstr>
      <vt:lpstr>Examples of Local Planners </vt:lpstr>
      <vt:lpstr>Examples of Local Planners </vt:lpstr>
      <vt:lpstr>Examples of Local Planners </vt:lpstr>
      <vt:lpstr>Examples of Local Planners </vt:lpstr>
      <vt:lpstr>Recap: Step 1: Roll The Dice (Sampling)</vt:lpstr>
      <vt:lpstr>Recap: Step 1: Roll The Dice (Sampling)</vt:lpstr>
      <vt:lpstr>Recap: Step 1: Roll The Dice (Sampling)</vt:lpstr>
      <vt:lpstr>Recap: Step 1: Roll The Dice (Sampling)</vt:lpstr>
      <vt:lpstr>Recap: Step 2: Find the Closest Buddy</vt:lpstr>
      <vt:lpstr>Recap: Step 3: Don’t Jump, Just Step</vt:lpstr>
      <vt:lpstr>Recap: Step 4: Watch Your Head</vt:lpstr>
      <vt:lpstr>Why It Works: The Voronoi Bias</vt:lpstr>
      <vt:lpstr>Improvement: RRT*</vt:lpstr>
      <vt:lpstr>A Live Visualization of the RRT Algorithm</vt:lpstr>
      <vt:lpstr>Possible Issue and Solution</vt:lpstr>
      <vt:lpstr>Possible Improvements</vt:lpstr>
      <vt:lpstr>Curious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蔡佳倛</cp:lastModifiedBy>
  <cp:revision>23</cp:revision>
  <dcterms:modified xsi:type="dcterms:W3CDTF">2026-02-13T03:41:31Z</dcterms:modified>
</cp:coreProperties>
</file>